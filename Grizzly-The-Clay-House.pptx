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3.jpg"/><Relationship Id="rId4" Type="http://schemas.openxmlformats.org/officeDocument/2006/relationships/image" Target="../media/image4.jpg"/><Relationship Id="rId5" Type="http://schemas.openxmlformats.org/officeDocument/2006/relationships/image" Target="../media/image5.jpg"/><Relationship Id="rId6" Type="http://schemas.openxmlformats.org/officeDocument/2006/relationships/image" Target="../media/image6.jpg"/><Relationship Id="rId7" Type="http://schemas.openxmlformats.org/officeDocument/2006/relationships/image" Target="../media/image7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image" Target="../media/image9.jpg"/><Relationship Id="rId4" Type="http://schemas.openxmlformats.org/officeDocument/2006/relationships/image" Target="../media/image10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image" Target="../media/image13.jpg"/><Relationship Id="rId4" Type="http://schemas.openxmlformats.org/officeDocument/2006/relationships/image" Target="../media/image14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4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234440"/>
            <a:ext cx="658368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0" b="1" i="0">
                <a:solidFill>
                  <a:srgbClr val="6B4226"/>
                </a:solidFill>
                <a:latin typeface="Trebuchet MS"/>
              </a:rPr>
              <a:t>GRIZZLY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76656" y="2395728"/>
            <a:ext cx="2011680" cy="82296"/>
          </a:xfrm>
          <a:prstGeom prst="roundRect">
            <a:avLst/>
          </a:prstGeom>
          <a:solidFill>
            <a:srgbClr val="E3A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grizzly-be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1619168"/>
            <a:ext cx="3749039" cy="307102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2743200"/>
            <a:ext cx="630936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750" b="0" i="0">
                <a:solidFill>
                  <a:srgbClr val="3E2A1A"/>
                </a:solidFill>
                <a:latin typeface="Trebuchet MS"/>
              </a:rPr>
              <a:t>Grizzly is a cheerful young bear, curious, brave and full of love for nature. This is the story of the little clay house that was designed and built just for him.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074920"/>
            <a:ext cx="5943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8A7A66"/>
                </a:solidFill>
                <a:latin typeface="Trebuchet MS"/>
              </a:rPr>
              <a:t>By </a:t>
            </a:r>
            <a:r>
              <a:rPr sz="1400" b="1" i="0">
                <a:solidFill>
                  <a:srgbClr val="8A7A66"/>
                </a:solidFill>
                <a:latin typeface="Trebuchet MS"/>
              </a:rPr>
              <a:t>Arooj Fatima</a:t>
            </a:r>
          </a:p>
        </p:txBody>
      </p:sp>
    </p:spTree>
  </p:cSld>
  <p:clrMapOvr>
    <a:masterClrMapping/>
  </p:clrMapOvr>
  <p:timing>
    <p:tnLst>
      <p:par>
        <p:cTn id="2" dur="indefinite" restart="never" nodeType="tmRoot">
          <p:childTnLst>
            <p:seq concurrent="1" nextAc="seek">
              <p:cTn id="3" dur="indefinite" nodeType="mainSeq">
                <p:childTnLst>
                  <p:par>
                    <p:cTn id="4" fill="hold">
                      <p:stCondLst>
                        <p:cond delay="indefinite" evt="onClick"/>
                      </p:stCondLst>
                      <p:childTnLst>
                        <p:par>
                          <p:cTn id="5" fill="hold">
                            <p:childTnLst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7" fill="hold">
                                        <p:stCondLst>
                                          <p:cond delay="0"/>
                                        </p:stCondLst>
                                        <p:childTnLst>
                                          <p:par>
                                            <p:cTn id="8" presetID="1" presetClass="entr" presetSubtype="0" fill="hold" grpId="0" nodeType="withEffect">
                                              <p:childTnLst>
                                                <p:set>
                                                  <p:cBhvr>
                                                    <p:cTn id="9" dur="1" fill="hold">
                                                      <p:stCondLst>
                                                        <p:cond delay="0"/>
                                                      </p:stCondLst>
                                                      <p:childTnLst/>
                                                    </p:cTn>
                                                    <p:tgtEl>
                                                      <p:spTgt spid="2"/>
                                                    </p:tgtEl>
                                                    <p:attrNameLst>
                                                      <p:attrName>style.visibility</p:attrName>
                                                    </p:attrNameLst>
                                                  </p:cBhvr>
                                                  <p:to>
                                                    <p:strVal val="visible"/>
                                                  </p:to>
                                                </p:set>
                                              </p:childTnLst>
                                            </p:cTn>
                                          </p:par>
                                          <p:par>
                                            <p:cTn id="10" presetID="10" presetClass="entr" presetSubtype="0" fill="hold" grpId="0" nodeType="withEffect">
                                              <p:childTnLst>
                                                <p:animEffect transition="in" filter="fade">
                                                  <p:cBhvr>
                                                    <p:cTn id="11" dur="600"/>
                                                    <p:tgtEl>
                                                      <p:spTgt spid="2"/>
                                                    </p:tgtEl>
                                                  </p:cBhvr>
                                                </p:animEffect>
                                              </p:childTnLst>
                                            </p:cTn>
                                          </p:par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13" fill="hold">
                                        <p:stCondLst>
                                          <p:cond delay="0"/>
                                        </p:stCondLst>
                                        <p:childTnLst>
                                          <p:par>
                                            <p:cTn id="14" presetID="1" presetClass="entr" presetSubtype="0" fill="hold" grpId="0" nodeType="withEffect">
                                              <p:childTnLst>
                                                <p:set>
                                                  <p:cBhvr>
                                                    <p:cTn id="15" dur="1" fill="hold">
                                                      <p:stCondLst>
                                                        <p:cond delay="0"/>
                                                      </p:stCondLst>
                                                      <p:childTnLst/>
                                                    </p:cTn>
                                                    <p:tgtEl>
                                                      <p:spTgt spid="3"/>
                                                    </p:tgtEl>
                                                    <p:attrNameLst>
                                                      <p:attrName>style.visibility</p:attrName>
                                                    </p:attrNameLst>
                                                  </p:cBhvr>
                                                  <p:to>
                                                    <p:strVal val="visible"/>
                                                  </p:to>
                                                </p:set>
                                              </p:childTnLst>
                                            </p:cTn>
                                          </p:par>
                                          <p:par>
                                            <p:cTn id="16" presetID="10" presetClass="entr" presetSubtype="0" fill="hold" grpId="0" nodeType="withEffect">
                                              <p:childTnLst>
                                                <p:animEffect transition="in" filter="fade">
                                                  <p:cBhvr>
                                                    <p:cTn id="17" dur="600"/>
                                                    <p:tgtEl>
                                                      <p:spTgt spid="3"/>
                                                    </p:tgtEl>
                                                  </p:cBhvr>
                                                </p:animEffect>
                                              </p:childTnLst>
                                            </p:cTn>
                                          </p:par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 evt="onClick"/>
                      </p:stCondLst>
                      <p:childTnLst>
                        <p:par>
                          <p:cTn id="19" fill="hold">
                            <p:childTnLst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21" fill="hold">
                                        <p:stCondLst>
                                          <p:cond delay="0"/>
                                        </p:stCondLst>
                                        <p:childTnLst>
                                          <p:par>
                                            <p:cTn id="22" presetID="1" presetClass="entr" presetSubtype="0" fill="hold" grpId="0" nodeType="withEffect">
                                              <p:childTnLst>
                                                <p:set>
                                                  <p:cBhvr>
                                                    <p:cTn id="23" dur="1" fill="hold">
                                                      <p:stCondLst>
                                                        <p:cond delay="0"/>
                                                      </p:stCondLst>
                                                      <p:childTnLst/>
                                                    </p:cTn>
                                                    <p:tgtEl>
                                                      <p:spTgt spid="4"/>
                                                    </p:tgtEl>
                                                    <p:attrNameLst>
                                                      <p:attrName>style.visibility</p:attrName>
                                                    </p:attrNameLst>
                                                  </p:cBhvr>
                                                  <p:to>
                                                    <p:strVal val="visible"/>
                                                  </p:to>
                                                </p:set>
                                              </p:childTnLst>
                                            </p:cTn>
                                          </p:par>
                                          <p:par>
                                            <p:cTn id="24" presetID="10" presetClass="entr" presetSubtype="0" fill="hold" grpId="0" nodeType="withEffect">
                                              <p:childTnLst>
                                                <p:animEffect transition="in" filter="fade">
                                                  <p:cBhvr>
                                                    <p:cTn id="25" dur="600"/>
                                                    <p:tgtEl>
                                                      <p:spTgt spid="4"/>
                                                    </p:tgtEl>
                                                  </p:cBhvr>
                                                </p:animEffect>
                                              </p:childTnLst>
                                            </p:cTn>
                                          </p:par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 evt="onClick"/>
                      </p:stCondLst>
                      <p:childTnLst>
                        <p:par>
                          <p:cTn id="27" fill="hold">
                            <p:childTnLst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29" fill="hold">
                                        <p:stCondLst>
                                          <p:cond delay="0"/>
                                        </p:stCondLst>
                                        <p:childTnLst>
                                          <p:par>
                                            <p:cTn id="30" presetID="1" presetClass="entr" presetSubtype="0" fill="hold" grpId="0" nodeType="withEffect">
                                              <p:childTnLst>
                                                <p:set>
                                                  <p:cBhvr>
                                                    <p:cTn id="31" dur="1" fill="hold">
                                                      <p:stCondLst>
                                                        <p:cond delay="0"/>
                                                      </p:stCondLst>
                                                      <p:childTnLst/>
                                                    </p:cTn>
                                                    <p:tgtEl>
                                                      <p:spTgt spid="5"/>
                                                    </p:tgtEl>
                                                    <p:attrNameLst>
                                                      <p:attrName>style.visibility</p:attrName>
                                                    </p:attrNameLst>
                                                  </p:cBhvr>
                                                  <p:to>
                                                    <p:strVal val="visible"/>
                                                  </p:to>
                                                </p:set>
                                              </p:childTnLst>
                                            </p:cTn>
                                          </p:par>
                                          <p:par>
                                            <p:cTn id="32" presetID="10" presetClass="entr" presetSubtype="0" fill="hold" grpId="0" nodeType="withEffect">
                                              <p:childTnLst>
                                                <p:animEffect transition="in" filter="fade">
                                                  <p:cBhvr>
                                                    <p:cTn id="33" dur="600"/>
                                                    <p:tgtEl>
                                                      <p:spTgt spid="5"/>
                                                    </p:tgtEl>
                                                  </p:cBhvr>
                                                </p:animEffect>
                                              </p:childTnLst>
                                            </p:cTn>
                                          </p:par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 evt="onClick"/>
                      </p:stCondLst>
                      <p:childTnLst>
                        <p:par>
                          <p:cTn id="35" fill="hold">
                            <p:childTnLst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37" fill="hold">
                                        <p:stCondLst>
                                          <p:cond delay="0"/>
                                        </p:stCondLst>
                                        <p:childTnLst>
                                          <p:par>
                                            <p:cTn id="38" presetID="1" presetClass="entr" presetSubtype="0" fill="hold" grpId="0" nodeType="withEffect">
                                              <p:childTnLst>
                                                <p:set>
                                                  <p:cBhvr>
                                                    <p:cTn id="39" dur="1" fill="hold">
                                                      <p:stCondLst>
                                                        <p:cond delay="0"/>
                                                      </p:stCondLst>
                                                      <p:childTnLst/>
                                                    </p:cTn>
                                                    <p:tgtEl>
                                                      <p:spTgt spid="6"/>
                                                    </p:tgtEl>
                                                    <p:attrNameLst>
                                                      <p:attrName>style.visibility</p:attrName>
                                                    </p:attrNameLst>
                                                  </p:cBhvr>
                                                  <p:to>
                                                    <p:strVal val="visible"/>
                                                  </p:to>
                                                </p:set>
                                              </p:childTnLst>
                                            </p:cTn>
                                          </p:par>
                                          <p:par>
                                            <p:cTn id="40" presetID="10" presetClass="entr" presetSubtype="0" fill="hold" grpId="0" nodeType="withEffect">
                                              <p:childTnLst>
                                                <p:animEffect transition="in" filter="fade">
                                                  <p:cBhvr>
                                                    <p:cTn id="41" dur="600"/>
                                                    <p:tgtEl>
                                                      <p:spTgt spid="6"/>
                                                    </p:tgtEl>
                                                  </p:cBhvr>
                                                </p:animEffect>
                                              </p:childTnLst>
                                            </p:cTn>
                                          </p:par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Click" delay="0">
                  <p:tgtEl>
                    <p:sldTgt/>
                  </p:tgtEl>
                </p:cond>
              </p:prevCondLst>
              <p:nextCondLst>
                <p:cond evt="onClick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4" grpId="0"/>
      <p:bldP spid="5" grpId="0"/>
      <p:bldP spid="6" grpId="0"/>
    </p:bld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4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106424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6B4226"/>
                </a:solidFill>
                <a:latin typeface="Trebuchet MS"/>
              </a:rPr>
              <a:t>Materials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66928" y="932688"/>
            <a:ext cx="1463040" cy="64008"/>
          </a:xfrm>
          <a:prstGeom prst="roundRect">
            <a:avLst/>
          </a:prstGeom>
          <a:solidFill>
            <a:srgbClr val="E3A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8A7A66"/>
                </a:solidFill>
                <a:latin typeface="Trebuchet MS"/>
              </a:rPr>
              <a:t>Grizzly — The Clay House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88720"/>
            <a:ext cx="11064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50" b="0" i="0">
                <a:solidFill>
                  <a:srgbClr val="3E2A1A"/>
                </a:solidFill>
                <a:latin typeface="Trebuchet MS"/>
              </a:rPr>
              <a:t>The whole house is built with non air-dry clay, shaped by hand and used in different shades.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40280"/>
            <a:ext cx="5376672" cy="11155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C3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04672" y="2523744"/>
            <a:ext cx="548640" cy="548640"/>
          </a:xfrm>
          <a:prstGeom prst="ellipse">
            <a:avLst/>
          </a:prstGeom>
          <a:solidFill>
            <a:srgbClr val="A05C33"/>
          </a:solidFill>
          <a:ln w="12700">
            <a:solidFill>
              <a:srgbClr val="D8C3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572768" y="2368296"/>
            <a:ext cx="420624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6B4226"/>
                </a:solidFill>
                <a:latin typeface="Trebuchet MS"/>
              </a:rPr>
              <a:t>Brown</a:t>
            </a:r>
            <a:r>
              <a:rPr sz="1550" b="0" i="0">
                <a:solidFill>
                  <a:srgbClr val="3E2A1A"/>
                </a:solidFill>
                <a:latin typeface="Trebuchet MS"/>
              </a:rPr>
              <a:t>  —  the walls and the bear's face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2240280"/>
            <a:ext cx="5376672" cy="11155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C3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519672" y="2523744"/>
            <a:ext cx="548640" cy="548640"/>
          </a:xfrm>
          <a:prstGeom prst="ellipse">
            <a:avLst/>
          </a:prstGeom>
          <a:solidFill>
            <a:srgbClr val="3E9E4F"/>
          </a:solidFill>
          <a:ln w="12700">
            <a:solidFill>
              <a:srgbClr val="D8C3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287768" y="2368296"/>
            <a:ext cx="420624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6B4226"/>
                </a:solidFill>
                <a:latin typeface="Trebuchet MS"/>
              </a:rPr>
              <a:t>Green</a:t>
            </a:r>
            <a:r>
              <a:rPr sz="1550" b="0" i="0">
                <a:solidFill>
                  <a:srgbClr val="3E2A1A"/>
                </a:solidFill>
                <a:latin typeface="Trebuchet MS"/>
              </a:rPr>
              <a:t>  —  the base and the plants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611880"/>
            <a:ext cx="5376672" cy="11155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C3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04672" y="3895344"/>
            <a:ext cx="548640" cy="548640"/>
          </a:xfrm>
          <a:prstGeom prst="ellipse">
            <a:avLst/>
          </a:prstGeom>
          <a:solidFill>
            <a:srgbClr val="2E7CD6"/>
          </a:solidFill>
          <a:ln w="12700">
            <a:solidFill>
              <a:srgbClr val="D8C3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572768" y="3739896"/>
            <a:ext cx="420624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6B4226"/>
                </a:solidFill>
                <a:latin typeface="Trebuchet MS"/>
              </a:rPr>
              <a:t>Blue</a:t>
            </a:r>
            <a:r>
              <a:rPr sz="1550" b="0" i="0">
                <a:solidFill>
                  <a:srgbClr val="3E2A1A"/>
                </a:solidFill>
                <a:latin typeface="Trebuchet MS"/>
              </a:rPr>
              <a:t>  —  the window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3611880"/>
            <a:ext cx="5376672" cy="11155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C3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519672" y="3895344"/>
            <a:ext cx="548640" cy="548640"/>
          </a:xfrm>
          <a:prstGeom prst="ellipse">
            <a:avLst/>
          </a:prstGeom>
          <a:solidFill>
            <a:srgbClr val="F2C529"/>
          </a:solidFill>
          <a:ln w="12700">
            <a:solidFill>
              <a:srgbClr val="D8C3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87768" y="3739896"/>
            <a:ext cx="420624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6B4226"/>
                </a:solidFill>
                <a:latin typeface="Trebuchet MS"/>
              </a:rPr>
              <a:t>Yellow</a:t>
            </a:r>
            <a:r>
              <a:rPr sz="1550" b="0" i="0">
                <a:solidFill>
                  <a:srgbClr val="3E2A1A"/>
                </a:solidFill>
                <a:latin typeface="Trebuchet MS"/>
              </a:rPr>
              <a:t>  —  the honey on the roof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983480"/>
            <a:ext cx="5376672" cy="11155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C3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04672" y="5266944"/>
            <a:ext cx="548640" cy="5486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8C3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572768" y="5111496"/>
            <a:ext cx="420624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6B4226"/>
                </a:solidFill>
                <a:latin typeface="Trebuchet MS"/>
              </a:rPr>
              <a:t>White</a:t>
            </a:r>
            <a:r>
              <a:rPr sz="1550" b="0" i="0">
                <a:solidFill>
                  <a:srgbClr val="3E2A1A"/>
                </a:solidFill>
                <a:latin typeface="Trebuchet MS"/>
              </a:rPr>
              <a:t>  —  the stones and the path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63640" y="4983480"/>
            <a:ext cx="5376672" cy="11155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C3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519672" y="5266944"/>
            <a:ext cx="548640" cy="548640"/>
          </a:xfrm>
          <a:prstGeom prst="ellipse">
            <a:avLst/>
          </a:prstGeom>
          <a:solidFill>
            <a:srgbClr val="222222"/>
          </a:solidFill>
          <a:ln w="12700">
            <a:solidFill>
              <a:srgbClr val="D8C3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287768" y="5111496"/>
            <a:ext cx="420624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6B4226"/>
                </a:solidFill>
                <a:latin typeface="Trebuchet MS"/>
              </a:rPr>
              <a:t>Black</a:t>
            </a:r>
            <a:r>
              <a:rPr sz="1550" b="0" i="0">
                <a:solidFill>
                  <a:srgbClr val="3E2A1A"/>
                </a:solidFill>
                <a:latin typeface="Trebuchet MS"/>
              </a:rPr>
              <a:t>  —  the eyes and the nose</a:t>
            </a:r>
          </a:p>
        </p:txBody>
      </p:sp>
    </p:spTree>
  </p:cSld>
  <p:clrMapOvr>
    <a:masterClrMapping/>
  </p:clrMapOvr>
  <p:timing>
    <p:tnLst>
      <p:par>
        <p:cTn id="2" dur="indefinite" restart="never" nodeType="tmRoot">
          <p:childTnLst>
            <p:seq concurrent="1" nextAc="seek">
              <p:cTn id="3" dur="indefinite" nodeType="mainSeq">
                <p:childTnLst>
                  <p:par>
                    <p:cTn id="4" fill="hold">
                      <p:stCondLst>
                        <p:cond delay="indefinite" evt="onClick"/>
                      </p:stCondLst>
                      <p:childTnLst>
                        <p:par>
                          <p:cTn id="5" fill="hold">
                            <p:childTnLst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7" fill="hold">
                                        <p:stCondLst>
                                          <p:cond delay="0"/>
                                        </p:stCondLst>
                                        <p:childTnLst>
                                          <p:par>
                                            <p:cTn id="8" presetID="1" presetClass="entr" presetSubtype="0" fill="hold" grpId="0" nodeType="withEffect">
                                              <p:childTnLst>
                                                <p:set>
                                                  <p:cBhvr>
                                                    <p:cTn id="9" dur="1" fill="hold">
                                                      <p:stCondLst>
                                                        <p:cond delay="0"/>
                                                      </p:stCondLst>
                                                      <p:childTnLst/>
                                                    </p:cTn>
                                                    <p:tgtEl>
                                                      <p:spTgt spid="5"/>
                                                    </p:tgtEl>
                                                    <p:attrNameLst>
                                                      <p:attrName>style.visibility</p:attrName>
                                                    </p:attrNameLst>
                                                  </p:cBhvr>
                                                  <p:to>
                                                    <p:strVal val="visible"/>
                                                  </p:to>
                                                </p:set>
                                              </p:childTnLst>
                                            </p:cTn>
                                          </p:par>
                                          <p:par>
                                            <p:cTn id="10" presetID="10" presetClass="entr" presetSubtype="0" fill="hold" grpId="0" nodeType="withEffect">
                                              <p:childTnLst>
                                                <p:animEffect transition="in" filter="fade">
                                                  <p:cBhvr>
                                                    <p:cTn id="11" dur="600"/>
                                                    <p:tgtEl>
                                                      <p:spTgt spid="5"/>
                                                    </p:tgtEl>
                                                  </p:cBhvr>
                                                </p:animEffect>
                                              </p:childTnLst>
                                            </p:cTn>
                                          </p:par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 evt="onClick"/>
                      </p:stCondLst>
                      <p:childTnLst>
                        <p:par>
                          <p:cTn id="13" fill="hold">
                            <p:childTnLst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15" fill="hold">
                                        <p:stCondLst>
                                          <p:cond delay="0"/>
                                        </p:stCondLst>
                                        <p:childTnLst>
                                          <p:par>
                                            <p:cTn id="16" presetID="1" presetClass="entr" presetSubtype="0" fill="hold" grpId="0" nodeType="withEffect">
                                              <p:childTnLst>
                                                <p:set>
                                                  <p:cBhvr>
                                                    <p:cTn id="17" dur="1" fill="hold">
                                                      <p:stCondLst>
                                                        <p:cond delay="0"/>
                                                      </p:stCondLst>
                                                      <p:childTnLst/>
                                                    </p:cTn>
                                                    <p:tgtEl>
                                                      <p:spTgt spid="6"/>
                                                    </p:tgtEl>
                                                    <p:attrNameLst>
                                                      <p:attrName>style.visibility</p:attrName>
                                                    </p:attrNameLst>
                                                  </p:cBhvr>
                                                  <p:to>
                                                    <p:strVal val="visible"/>
                                                  </p:to>
                                                </p:set>
                                              </p:childTnLst>
                                            </p:cTn>
                                          </p:par>
                                          <p:par>
                                            <p:cTn id="18" presetID="10" presetClass="entr" presetSubtype="0" fill="hold" grpId="0" nodeType="withEffect">
                                              <p:childTnLst>
                                                <p:animEffect transition="in" filter="fade">
                                                  <p:cBhvr>
                                                    <p:cTn id="19" dur="600"/>
                                                    <p:tgtEl>
                                                      <p:spTgt spid="6"/>
                                                    </p:tgtEl>
                                                  </p:cBhvr>
                                                </p:animEffect>
                                              </p:childTnLst>
                                            </p:cTn>
                                          </p:par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21" fill="hold">
                                        <p:stCondLst>
                                          <p:cond delay="0"/>
                                        </p:stCondLst>
                                        <p:childTnLst>
                                          <p:par>
                                            <p:cTn id="22" presetID="1" presetClass="entr" presetSubtype="0" fill="hold" grpId="0" nodeType="withEffect">
                                              <p:childTnLst>
                                                <p:set>
                                                  <p:cBhvr>
                                                    <p:cTn id="23" dur="1" fill="hold">
                                                      <p:stCondLst>
                                                        <p:cond delay="0"/>
                                                      </p:stCondLst>
                                                      <p:childTnLst/>
                                                    </p:cTn>
                                                    <p:tgtEl>
                                                      <p:spTgt spid="7"/>
                                                    </p:tgtEl>
                                                    <p:attrNameLst>
                                                      <p:attrName>style.visibility</p:attrName>
                                                    </p:attrNameLst>
                                                  </p:cBhvr>
                                                  <p:to>
                                                    <p:strVal val="visible"/>
                                                  </p:to>
                                                </p:set>
                                              </p:childTnLst>
                                            </p:cTn>
                                          </p:par>
                                          <p:par>
                                            <p:cTn id="24" presetID="10" presetClass="entr" presetSubtype="0" fill="hold" grpId="0" nodeType="withEffect">
                                              <p:childTnLst>
                                                <p:animEffect transition="in" filter="fade">
                                                  <p:cBhvr>
                                                    <p:cTn id="25" dur="600"/>
                                                    <p:tgtEl>
                                                      <p:spTgt spid="7"/>
                                                    </p:tgtEl>
                                                  </p:cBhvr>
                                                </p:animEffect>
                                              </p:childTnLst>
                                            </p:cTn>
                                          </p:par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27" fill="hold">
                                        <p:stCondLst>
                                          <p:cond delay="0"/>
                                        </p:stCondLst>
                                        <p:childTnLst>
                                          <p:par>
                                            <p:cTn id="28" presetID="1" presetClass="entr" presetSubtype="0" fill="hold" grpId="0" nodeType="withEffect">
                                              <p:childTnLst>
                                                <p:set>
                                                  <p:cBhvr>
                                                    <p:cTn id="29" dur="1" fill="hold">
                                                      <p:stCondLst>
                                                        <p:cond delay="0"/>
                                                      </p:stCondLst>
                                                      <p:childTnLst/>
                                                    </p:cTn>
                                                    <p:tgtEl>
                                                      <p:spTgt spid="8"/>
                                                    </p:tgtEl>
                                                    <p:attrNameLst>
                                                      <p:attrName>style.visibility</p:attrName>
                                                    </p:attrNameLst>
                                                  </p:cBhvr>
                                                  <p:to>
                                                    <p:strVal val="visible"/>
                                                  </p:to>
                                                </p:set>
                                              </p:childTnLst>
                                            </p:cTn>
                                          </p:par>
                                          <p:par>
                                            <p:cTn id="30" presetID="10" presetClass="entr" presetSubtype="0" fill="hold" grpId="0" nodeType="withEffect">
                                              <p:childTnLst>
                                                <p:animEffect transition="in" filter="fade">
                                                  <p:cBhvr>
                                                    <p:cTn id="31" dur="600"/>
                                                    <p:tgtEl>
                                                      <p:spTgt spid="8"/>
                                                    </p:tgtEl>
                                                  </p:cBhvr>
                                                </p:animEffect>
                                              </p:childTnLst>
                                            </p:cTn>
                                          </p:par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 evt="onClick"/>
                      </p:stCondLst>
                      <p:childTnLst>
                        <p:par>
                          <p:cTn id="33" fill="hold">
                            <p:childTnLst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35" fill="hold">
                                        <p:stCondLst>
                                          <p:cond delay="0"/>
                                        </p:stCondLst>
                                        <p:childTnLst>
                                          <p:par>
                                            <p:cTn id="36" presetID="1" presetClass="entr" presetSubtype="0" fill="hold" grpId="0" nodeType="withEffect">
                                              <p:childTnLst>
                                                <p:set>
                                                  <p:cBhvr>
                                                    <p:cTn id="37" dur="1" fill="hold">
                                                      <p:stCondLst>
                                                        <p:cond delay="0"/>
                                                      </p:stCondLst>
                                                      <p:childTnLst/>
                                                    </p:cTn>
                                                    <p:tgtEl>
                                                      <p:spTgt spid="9"/>
                                                    </p:tgtEl>
                                                    <p:attrNameLst>
                                                      <p:attrName>style.visibility</p:attrName>
                                                    </p:attrNameLst>
                                                  </p:cBhvr>
                                                  <p:to>
                                                    <p:strVal val="visible"/>
                                                  </p:to>
                                                </p:set>
                                              </p:childTnLst>
                                            </p:cTn>
                                          </p:par>
                                          <p:par>
                                            <p:cTn id="38" presetID="10" presetClass="entr" presetSubtype="0" fill="hold" grpId="0" nodeType="withEffect">
                                              <p:childTnLst>
                                                <p:animEffect transition="in" filter="fade">
                                                  <p:cBhvr>
                                                    <p:cTn id="39" dur="600"/>
                                                    <p:tgtEl>
                                                      <p:spTgt spid="9"/>
                                                    </p:tgtEl>
                                                  </p:cBhvr>
                                                </p:animEffect>
                                              </p:childTnLst>
                                            </p:cTn>
                                          </p:par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41" fill="hold">
                                        <p:stCondLst>
                                          <p:cond delay="0"/>
                                        </p:stCondLst>
                                        <p:childTnLst>
                                          <p:par>
                                            <p:cTn id="42" presetID="1" presetClass="entr" presetSubtype="0" fill="hold" grpId="0" nodeType="withEffect">
                                              <p:childTnLst>
                                                <p:set>
                                                  <p:cBhvr>
                                                    <p:cTn id="43" dur="1" fill="hold">
                                                      <p:stCondLst>
                                                        <p:cond delay="0"/>
                                                      </p:stCondLst>
                                                      <p:childTnLst/>
                                                    </p:cTn>
                                                    <p:tgtEl>
                                                      <p:spTgt spid="10"/>
                                                    </p:tgtEl>
                                                    <p:attrNameLst>
                                                      <p:attrName>style.visibility</p:attrName>
                                                    </p:attrNameLst>
                                                  </p:cBhvr>
                                                  <p:to>
                                                    <p:strVal val="visible"/>
                                                  </p:to>
                                                </p:set>
                                              </p:childTnLst>
                                            </p:cTn>
                                          </p:par>
                                          <p:par>
                                            <p:cTn id="44" presetID="10" presetClass="entr" presetSubtype="0" fill="hold" grpId="0" nodeType="withEffect">
                                              <p:childTnLst>
                                                <p:animEffect transition="in" filter="fade">
                                                  <p:cBhvr>
                                                    <p:cTn id="45" dur="600"/>
                                                    <p:tgtEl>
                                                      <p:spTgt spid="10"/>
                                                    </p:tgtEl>
                                                  </p:cBhvr>
                                                </p:animEffect>
                                              </p:childTnLst>
                                            </p:cTn>
                                          </p:par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47" fill="hold">
                                        <p:stCondLst>
                                          <p:cond delay="0"/>
                                        </p:stCondLst>
                                        <p:childTnLst>
                                          <p:par>
                                            <p:cTn id="48" presetID="1" presetClass="entr" presetSubtype="0" fill="hold" grpId="0" nodeType="withEffect">
                                              <p:childTnLst>
                                                <p:set>
                                                  <p:cBhvr>
                                                    <p:cTn id="49" dur="1" fill="hold">
                                                      <p:stCondLst>
                                                        <p:cond delay="0"/>
                                                      </p:stCondLst>
                                                      <p:childTnLst/>
                                                    </p:cTn>
                                                    <p:tgtEl>
                                                      <p:spTgt spid="11"/>
                                                    </p:tgtEl>
                                                    <p:attrNameLst>
                                                      <p:attrName>style.visibility</p:attrName>
                                                    </p:attrNameLst>
                                                  </p:cBhvr>
                                                  <p:to>
                                                    <p:strVal val="visible"/>
                                                  </p:to>
                                                </p:set>
                                              </p:childTnLst>
                                            </p:cTn>
                                          </p:par>
                                          <p:par>
                                            <p:cTn id="50" presetID="10" presetClass="entr" presetSubtype="0" fill="hold" grpId="0" nodeType="withEffect">
                                              <p:childTnLst>
                                                <p:animEffect transition="in" filter="fade">
                                                  <p:cBhvr>
                                                    <p:cTn id="51" dur="600"/>
                                                    <p:tgtEl>
                                                      <p:spTgt spid="11"/>
                                                    </p:tgtEl>
                                                  </p:cBhvr>
                                                </p:animEffect>
                                              </p:childTnLst>
                                            </p:cTn>
                                          </p:par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 evt="onClick"/>
                      </p:stCondLst>
                      <p:childTnLst>
                        <p:par>
                          <p:cTn id="53" fill="hold">
                            <p:childTnLst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55" fill="hold">
                                        <p:stCondLst>
                                          <p:cond delay="0"/>
                                        </p:stCondLst>
                                        <p:childTnLst>
                                          <p:par>
                                            <p:cTn id="56" presetID="1" presetClass="entr" presetSubtype="0" fill="hold" grpId="0" nodeType="withEffect">
                                              <p:childTnLst>
                                                <p:set>
                                                  <p:cBhvr>
                                                    <p:cTn id="57" dur="1" fill="hold">
                                                      <p:stCondLst>
                                                        <p:cond delay="0"/>
                                                      </p:stCondLst>
                                                      <p:childTnLst/>
                                                    </p:cTn>
                                                    <p:tgtEl>
                                                      <p:spTgt spid="12"/>
                                                    </p:tgtEl>
                                                    <p:attrNameLst>
                                                      <p:attrName>style.visibility</p:attrName>
                                                    </p:attrNameLst>
                                                  </p:cBhvr>
                                                  <p:to>
                                                    <p:strVal val="visible"/>
                                                  </p:to>
                                                </p:set>
                                              </p:childTnLst>
                                            </p:cTn>
                                          </p:par>
                                          <p:par>
                                            <p:cTn id="58" presetID="10" presetClass="entr" presetSubtype="0" fill="hold" grpId="0" nodeType="withEffect">
                                              <p:childTnLst>
                                                <p:animEffect transition="in" filter="fade">
                                                  <p:cBhvr>
                                                    <p:cTn id="59" dur="600"/>
                                                    <p:tgtEl>
                                                      <p:spTgt spid="12"/>
                                                    </p:tgtEl>
                                                  </p:cBhvr>
                                                </p:animEffect>
                                              </p:childTnLst>
                                            </p:cTn>
                                          </p:par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61" fill="hold">
                                        <p:stCondLst>
                                          <p:cond delay="0"/>
                                        </p:stCondLst>
                                        <p:childTnLst>
                                          <p:par>
                                            <p:cTn id="62" presetID="1" presetClass="entr" presetSubtype="0" fill="hold" grpId="0" nodeType="withEffect">
                                              <p:childTnLst>
                                                <p:set>
                                                  <p:cBhvr>
                                                    <p:cTn id="63" dur="1" fill="hold">
                                                      <p:stCondLst>
                                                        <p:cond delay="0"/>
                                                      </p:stCondLst>
                                                      <p:childTnLst/>
                                                    </p:cTn>
                                                    <p:tgtEl>
                                                      <p:spTgt spid="13"/>
                                                    </p:tgtEl>
                                                    <p:attrNameLst>
                                                      <p:attrName>style.visibility</p:attrName>
                                                    </p:attrNameLst>
                                                  </p:cBhvr>
                                                  <p:to>
                                                    <p:strVal val="visible"/>
                                                  </p:to>
                                                </p:set>
                                              </p:childTnLst>
                                            </p:cTn>
                                          </p:par>
                                          <p:par>
                                            <p:cTn id="64" presetID="10" presetClass="entr" presetSubtype="0" fill="hold" grpId="0" nodeType="withEffect">
                                              <p:childTnLst>
                                                <p:animEffect transition="in" filter="fade">
                                                  <p:cBhvr>
                                                    <p:cTn id="65" dur="600"/>
                                                    <p:tgtEl>
                                                      <p:spTgt spid="13"/>
                                                    </p:tgtEl>
                                                  </p:cBhvr>
                                                </p:animEffect>
                                              </p:childTnLst>
                                            </p:cTn>
                                          </p:par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67" fill="hold">
                                        <p:stCondLst>
                                          <p:cond delay="0"/>
                                        </p:stCondLst>
                                        <p:childTnLst>
                                          <p:par>
                                            <p:cTn id="68" presetID="1" presetClass="entr" presetSubtype="0" fill="hold" grpId="0" nodeType="withEffect">
                                              <p:childTnLst>
                                                <p:set>
                                                  <p:cBhvr>
                                                    <p:cTn id="69" dur="1" fill="hold">
                                                      <p:stCondLst>
                                                        <p:cond delay="0"/>
                                                      </p:stCondLst>
                                                      <p:childTnLst/>
                                                    </p:cTn>
                                                    <p:tgtEl>
                                                      <p:spTgt spid="14"/>
                                                    </p:tgtEl>
                                                    <p:attrNameLst>
                                                      <p:attrName>style.visibility</p:attrName>
                                                    </p:attrNameLst>
                                                  </p:cBhvr>
                                                  <p:to>
                                                    <p:strVal val="visible"/>
                                                  </p:to>
                                                </p:set>
                                              </p:childTnLst>
                                            </p:cTn>
                                          </p:par>
                                          <p:par>
                                            <p:cTn id="70" presetID="10" presetClass="entr" presetSubtype="0" fill="hold" grpId="0" nodeType="withEffect">
                                              <p:childTnLst>
                                                <p:animEffect transition="in" filter="fade">
                                                  <p:cBhvr>
                                                    <p:cTn id="71" dur="600"/>
                                                    <p:tgtEl>
                                                      <p:spTgt spid="14"/>
                                                    </p:tgtEl>
                                                  </p:cBhvr>
                                                </p:animEffect>
                                              </p:childTnLst>
                                            </p:cTn>
                                          </p:par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 evt="onClick"/>
                      </p:stCondLst>
                      <p:childTnLst>
                        <p:par>
                          <p:cTn id="73" fill="hold">
                            <p:childTnLst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75" fill="hold">
                                        <p:stCondLst>
                                          <p:cond delay="0"/>
                                        </p:stCondLst>
                                        <p:childTnLst>
                                          <p:par>
                                            <p:cTn id="76" presetID="1" presetClass="entr" presetSubtype="0" fill="hold" grpId="0" nodeType="withEffect">
                                              <p:childTnLst>
                                                <p:set>
                                                  <p:cBhvr>
                                                    <p:cTn id="77" dur="1" fill="hold">
                                                      <p:stCondLst>
                                                        <p:cond delay="0"/>
                                                      </p:stCondLst>
                                                      <p:childTnLst/>
                                                    </p:cTn>
                                                    <p:tgtEl>
                                                      <p:spTgt spid="15"/>
                                                    </p:tgtEl>
                                                    <p:attrNameLst>
                                                      <p:attrName>style.visibility</p:attrName>
                                                    </p:attrNameLst>
                                                  </p:cBhvr>
                                                  <p:to>
                                                    <p:strVal val="visible"/>
                                                  </p:to>
                                                </p:set>
                                              </p:childTnLst>
                                            </p:cTn>
                                          </p:par>
                                          <p:par>
                                            <p:cTn id="78" presetID="10" presetClass="entr" presetSubtype="0" fill="hold" grpId="0" nodeType="withEffect">
                                              <p:childTnLst>
                                                <p:animEffect transition="in" filter="fade">
                                                  <p:cBhvr>
                                                    <p:cTn id="79" dur="600"/>
                                                    <p:tgtEl>
                                                      <p:spTgt spid="15"/>
                                                    </p:tgtEl>
                                                  </p:cBhvr>
                                                </p:animEffect>
                                              </p:childTnLst>
                                            </p:cTn>
                                          </p:par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81" fill="hold">
                                        <p:stCondLst>
                                          <p:cond delay="0"/>
                                        </p:stCondLst>
                                        <p:childTnLst>
                                          <p:par>
                                            <p:cTn id="82" presetID="1" presetClass="entr" presetSubtype="0" fill="hold" grpId="0" nodeType="withEffect">
                                              <p:childTnLst>
                                                <p:set>
                                                  <p:cBhvr>
                                                    <p:cTn id="83" dur="1" fill="hold">
                                                      <p:stCondLst>
                                                        <p:cond delay="0"/>
                                                      </p:stCondLst>
                                                      <p:childTnLst/>
                                                    </p:cTn>
                                                    <p:tgtEl>
                                                      <p:spTgt spid="16"/>
                                                    </p:tgtEl>
                                                    <p:attrNameLst>
                                                      <p:attrName>style.visibility</p:attrName>
                                                    </p:attrNameLst>
                                                  </p:cBhvr>
                                                  <p:to>
                                                    <p:strVal val="visible"/>
                                                  </p:to>
                                                </p:set>
                                              </p:childTnLst>
                                            </p:cTn>
                                          </p:par>
                                          <p:par>
                                            <p:cTn id="84" presetID="10" presetClass="entr" presetSubtype="0" fill="hold" grpId="0" nodeType="withEffect">
                                              <p:childTnLst>
                                                <p:animEffect transition="in" filter="fade">
                                                  <p:cBhvr>
                                                    <p:cTn id="85" dur="600"/>
                                                    <p:tgtEl>
                                                      <p:spTgt spid="16"/>
                                                    </p:tgtEl>
                                                  </p:cBhvr>
                                                </p:animEffect>
                                              </p:childTnLst>
                                            </p:cTn>
                                          </p:par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87" fill="hold">
                                        <p:stCondLst>
                                          <p:cond delay="0"/>
                                        </p:stCondLst>
                                        <p:childTnLst>
                                          <p:par>
                                            <p:cTn id="88" presetID="1" presetClass="entr" presetSubtype="0" fill="hold" grpId="0" nodeType="withEffect">
                                              <p:childTnLst>
                                                <p:set>
                                                  <p:cBhvr>
                                                    <p:cTn id="89" dur="1" fill="hold">
                                                      <p:stCondLst>
                                                        <p:cond delay="0"/>
                                                      </p:stCondLst>
                                                      <p:childTnLst/>
                                                    </p:cTn>
                                                    <p:tgtEl>
                                                      <p:spTgt spid="17"/>
                                                    </p:tgtEl>
                                                    <p:attrNameLst>
                                                      <p:attrName>style.visibility</p:attrName>
                                                    </p:attrNameLst>
                                                  </p:cBhvr>
                                                  <p:to>
                                                    <p:strVal val="visible"/>
                                                  </p:to>
                                                </p:set>
                                              </p:childTnLst>
                                            </p:cTn>
                                          </p:par>
                                          <p:par>
                                            <p:cTn id="90" presetID="10" presetClass="entr" presetSubtype="0" fill="hold" grpId="0" nodeType="withEffect">
                                              <p:childTnLst>
                                                <p:animEffect transition="in" filter="fade">
                                                  <p:cBhvr>
                                                    <p:cTn id="91" dur="600"/>
                                                    <p:tgtEl>
                                                      <p:spTgt spid="17"/>
                                                    </p:tgtEl>
                                                  </p:cBhvr>
                                                </p:animEffect>
                                              </p:childTnLst>
                                            </p:cTn>
                                          </p:par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2" fill="hold">
                      <p:stCondLst>
                        <p:cond delay="indefinite" evt="onClick"/>
                      </p:stCondLst>
                      <p:childTnLst>
                        <p:par>
                          <p:cTn id="93" fill="hold">
                            <p:childTnLst>
                              <p:par>
                                <p:cTn id="9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95" fill="hold">
                                        <p:stCondLst>
                                          <p:cond delay="0"/>
                                        </p:stCondLst>
                                        <p:childTnLst>
                                          <p:par>
                                            <p:cTn id="96" presetID="1" presetClass="entr" presetSubtype="0" fill="hold" grpId="0" nodeType="withEffect">
                                              <p:childTnLst>
                                                <p:set>
                                                  <p:cBhvr>
                                                    <p:cTn id="97" dur="1" fill="hold">
                                                      <p:stCondLst>
                                                        <p:cond delay="0"/>
                                                      </p:stCondLst>
                                                      <p:childTnLst/>
                                                    </p:cTn>
                                                    <p:tgtEl>
                                                      <p:spTgt spid="18"/>
                                                    </p:tgtEl>
                                                    <p:attrNameLst>
                                                      <p:attrName>style.visibility</p:attrName>
                                                    </p:attrNameLst>
                                                  </p:cBhvr>
                                                  <p:to>
                                                    <p:strVal val="visible"/>
                                                  </p:to>
                                                </p:set>
                                              </p:childTnLst>
                                            </p:cTn>
                                          </p:par>
                                          <p:par>
                                            <p:cTn id="98" presetID="10" presetClass="entr" presetSubtype="0" fill="hold" grpId="0" nodeType="withEffect">
                                              <p:childTnLst>
                                                <p:animEffect transition="in" filter="fade">
                                                  <p:cBhvr>
                                                    <p:cTn id="99" dur="600"/>
                                                    <p:tgtEl>
                                                      <p:spTgt spid="18"/>
                                                    </p:tgtEl>
                                                  </p:cBhvr>
                                                </p:animEffect>
                                              </p:childTnLst>
                                            </p:cTn>
                                          </p:par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  <p:par>
                                <p:cTn id="10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101" fill="hold">
                                        <p:stCondLst>
                                          <p:cond delay="0"/>
                                        </p:stCondLst>
                                        <p:childTnLst>
                                          <p:par>
                                            <p:cTn id="102" presetID="1" presetClass="entr" presetSubtype="0" fill="hold" grpId="0" nodeType="withEffect">
                                              <p:childTnLst>
                                                <p:set>
                                                  <p:cBhvr>
                                                    <p:cTn id="103" dur="1" fill="hold">
                                                      <p:stCondLst>
                                                        <p:cond delay="0"/>
                                                      </p:stCondLst>
                                                      <p:childTnLst/>
                                                    </p:cTn>
                                                    <p:tgtEl>
                                                      <p:spTgt spid="19"/>
                                                    </p:tgtEl>
                                                    <p:attrNameLst>
                                                      <p:attrName>style.visibility</p:attrName>
                                                    </p:attrNameLst>
                                                  </p:cBhvr>
                                                  <p:to>
                                                    <p:strVal val="visible"/>
                                                  </p:to>
                                                </p:set>
                                              </p:childTnLst>
                                            </p:cTn>
                                          </p:par>
                                          <p:par>
                                            <p:cTn id="104" presetID="10" presetClass="entr" presetSubtype="0" fill="hold" grpId="0" nodeType="withEffect">
                                              <p:childTnLst>
                                                <p:animEffect transition="in" filter="fade">
                                                  <p:cBhvr>
                                                    <p:cTn id="105" dur="600"/>
                                                    <p:tgtEl>
                                                      <p:spTgt spid="19"/>
                                                    </p:tgtEl>
                                                  </p:cBhvr>
                                                </p:animEffect>
                                              </p:childTnLst>
                                            </p:cTn>
                                          </p:par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  <p:par>
                                <p:cTn id="10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107" fill="hold">
                                        <p:stCondLst>
                                          <p:cond delay="0"/>
                                        </p:stCondLst>
                                        <p:childTnLst>
                                          <p:par>
                                            <p:cTn id="108" presetID="1" presetClass="entr" presetSubtype="0" fill="hold" grpId="0" nodeType="withEffect">
                                              <p:childTnLst>
                                                <p:set>
                                                  <p:cBhvr>
                                                    <p:cTn id="109" dur="1" fill="hold">
                                                      <p:stCondLst>
                                                        <p:cond delay="0"/>
                                                      </p:stCondLst>
                                                      <p:childTnLst/>
                                                    </p:cTn>
                                                    <p:tgtEl>
                                                      <p:spTgt spid="20"/>
                                                    </p:tgtEl>
                                                    <p:attrNameLst>
                                                      <p:attrName>style.visibility</p:attrName>
                                                    </p:attrNameLst>
                                                  </p:cBhvr>
                                                  <p:to>
                                                    <p:strVal val="visible"/>
                                                  </p:to>
                                                </p:set>
                                              </p:childTnLst>
                                            </p:cTn>
                                          </p:par>
                                          <p:par>
                                            <p:cTn id="110" presetID="10" presetClass="entr" presetSubtype="0" fill="hold" grpId="0" nodeType="withEffect">
                                              <p:childTnLst>
                                                <p:animEffect transition="in" filter="fade">
                                                  <p:cBhvr>
                                                    <p:cTn id="111" dur="600"/>
                                                    <p:tgtEl>
                                                      <p:spTgt spid="20"/>
                                                    </p:tgtEl>
                                                  </p:cBhvr>
                                                </p:animEffect>
                                              </p:childTnLst>
                                            </p:cTn>
                                          </p:par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2" fill="hold">
                      <p:stCondLst>
                        <p:cond delay="indefinite" evt="onClick"/>
                      </p:stCondLst>
                      <p:childTnLst>
                        <p:par>
                          <p:cTn id="113" fill="hold">
                            <p:childTnLst>
                              <p:par>
                                <p:cTn id="1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115" fill="hold">
                                        <p:stCondLst>
                                          <p:cond delay="0"/>
                                        </p:stCondLst>
                                        <p:childTnLst>
                                          <p:par>
                                            <p:cTn id="116" presetID="1" presetClass="entr" presetSubtype="0" fill="hold" grpId="0" nodeType="withEffect">
                                              <p:childTnLst>
                                                <p:set>
                                                  <p:cBhvr>
                                                    <p:cTn id="117" dur="1" fill="hold">
                                                      <p:stCondLst>
                                                        <p:cond delay="0"/>
                                                      </p:stCondLst>
                                                      <p:childTnLst/>
                                                    </p:cTn>
                                                    <p:tgtEl>
                                                      <p:spTgt spid="21"/>
                                                    </p:tgtEl>
                                                    <p:attrNameLst>
                                                      <p:attrName>style.visibility</p:attrName>
                                                    </p:attrNameLst>
                                                  </p:cBhvr>
                                                  <p:to>
                                                    <p:strVal val="visible"/>
                                                  </p:to>
                                                </p:set>
                                              </p:childTnLst>
                                            </p:cTn>
                                          </p:par>
                                          <p:par>
                                            <p:cTn id="118" presetID="10" presetClass="entr" presetSubtype="0" fill="hold" grpId="0" nodeType="withEffect">
                                              <p:childTnLst>
                                                <p:animEffect transition="in" filter="fade">
                                                  <p:cBhvr>
                                                    <p:cTn id="119" dur="600"/>
                                                    <p:tgtEl>
                                                      <p:spTgt spid="21"/>
                                                    </p:tgtEl>
                                                  </p:cBhvr>
                                                </p:animEffect>
                                              </p:childTnLst>
                                            </p:cTn>
                                          </p:par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  <p:par>
                                <p:cTn id="1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121" fill="hold">
                                        <p:stCondLst>
                                          <p:cond delay="0"/>
                                        </p:stCondLst>
                                        <p:childTnLst>
                                          <p:par>
                                            <p:cTn id="122" presetID="1" presetClass="entr" presetSubtype="0" fill="hold" grpId="0" nodeType="withEffect">
                                              <p:childTnLst>
                                                <p:set>
                                                  <p:cBhvr>
                                                    <p:cTn id="123" dur="1" fill="hold">
                                                      <p:stCondLst>
                                                        <p:cond delay="0"/>
                                                      </p:stCondLst>
                                                      <p:childTnLst/>
                                                    </p:cTn>
                                                    <p:tgtEl>
                                                      <p:spTgt spid="22"/>
                                                    </p:tgtEl>
                                                    <p:attrNameLst>
                                                      <p:attrName>style.visibility</p:attrName>
                                                    </p:attrNameLst>
                                                  </p:cBhvr>
                                                  <p:to>
                                                    <p:strVal val="visible"/>
                                                  </p:to>
                                                </p:set>
                                              </p:childTnLst>
                                            </p:cTn>
                                          </p:par>
                                          <p:par>
                                            <p:cTn id="124" presetID="10" presetClass="entr" presetSubtype="0" fill="hold" grpId="0" nodeType="withEffect">
                                              <p:childTnLst>
                                                <p:animEffect transition="in" filter="fade">
                                                  <p:cBhvr>
                                                    <p:cTn id="125" dur="600"/>
                                                    <p:tgtEl>
                                                      <p:spTgt spid="22"/>
                                                    </p:tgtEl>
                                                  </p:cBhvr>
                                                </p:animEffect>
                                              </p:childTnLst>
                                            </p:cTn>
                                          </p:par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  <p:par>
                                <p:cTn id="1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127" fill="hold">
                                        <p:stCondLst>
                                          <p:cond delay="0"/>
                                        </p:stCondLst>
                                        <p:childTnLst>
                                          <p:par>
                                            <p:cTn id="128" presetID="1" presetClass="entr" presetSubtype="0" fill="hold" grpId="0" nodeType="withEffect">
                                              <p:childTnLst>
                                                <p:set>
                                                  <p:cBhvr>
                                                    <p:cTn id="129" dur="1" fill="hold">
                                                      <p:stCondLst>
                                                        <p:cond delay="0"/>
                                                      </p:stCondLst>
                                                      <p:childTnLst/>
                                                    </p:cTn>
                                                    <p:tgtEl>
                                                      <p:spTgt spid="23"/>
                                                    </p:tgtEl>
                                                    <p:attrNameLst>
                                                      <p:attrName>style.visibility</p:attrName>
                                                    </p:attrNameLst>
                                                  </p:cBhvr>
                                                  <p:to>
                                                    <p:strVal val="visible"/>
                                                  </p:to>
                                                </p:set>
                                              </p:childTnLst>
                                            </p:cTn>
                                          </p:par>
                                          <p:par>
                                            <p:cTn id="130" presetID="10" presetClass="entr" presetSubtype="0" fill="hold" grpId="0" nodeType="withEffect">
                                              <p:childTnLst>
                                                <p:animEffect transition="in" filter="fade">
                                                  <p:cBhvr>
                                                    <p:cTn id="131" dur="600"/>
                                                    <p:tgtEl>
                                                      <p:spTgt spid="23"/>
                                                    </p:tgtEl>
                                                  </p:cBhvr>
                                                </p:animEffect>
                                              </p:childTnLst>
                                            </p:cTn>
                                          </p:par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Click" delay="0">
                  <p:tgtEl>
                    <p:sldTgt/>
                  </p:tgtEl>
                </p:cond>
              </p:prevCondLst>
              <p:nextCondLst>
                <p:cond evt="onClick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</p:bld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4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106424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6B4226"/>
                </a:solidFill>
                <a:latin typeface="Trebuchet MS"/>
              </a:rPr>
              <a:t>The Construction Process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66928" y="932688"/>
            <a:ext cx="1463040" cy="64008"/>
          </a:xfrm>
          <a:prstGeom prst="roundRect">
            <a:avLst/>
          </a:prstGeom>
          <a:solidFill>
            <a:srgbClr val="E3A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42415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8A7A66"/>
                </a:solidFill>
                <a:latin typeface="Trebuchet MS"/>
              </a:rPr>
              <a:t>First, the plan in sketches, step by step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8A7A66"/>
                </a:solidFill>
                <a:latin typeface="Trebuchet MS"/>
              </a:rPr>
              <a:t>Grizzly — The Clay House</a:t>
            </a:r>
          </a:p>
        </p:txBody>
      </p:sp>
      <p:pic>
        <p:nvPicPr>
          <p:cNvPr id="6" name="Picture 5" descr="sketch-1-base-cub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6556" y="1600200"/>
            <a:ext cx="2324608" cy="20116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3648456"/>
            <a:ext cx="35204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50" b="1" i="0">
                <a:solidFill>
                  <a:srgbClr val="6B4226"/>
                </a:solidFill>
                <a:latin typeface="Trebuchet MS"/>
              </a:rPr>
              <a:t>1. Base Cube</a:t>
            </a:r>
          </a:p>
        </p:txBody>
      </p:sp>
      <p:pic>
        <p:nvPicPr>
          <p:cNvPr id="8" name="Picture 7" descr="sketch-2-subtraction-entranc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64026" y="1600200"/>
            <a:ext cx="2079186" cy="20116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343400" y="3648456"/>
            <a:ext cx="35204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50" b="1" i="0">
                <a:solidFill>
                  <a:srgbClr val="6B4226"/>
                </a:solidFill>
                <a:latin typeface="Trebuchet MS"/>
              </a:rPr>
              <a:t>2. Subtraction (Entrance)</a:t>
            </a:r>
          </a:p>
        </p:txBody>
      </p:sp>
      <p:pic>
        <p:nvPicPr>
          <p:cNvPr id="10" name="Picture 9" descr="sketch-3-subtraction-window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84087" y="1600200"/>
            <a:ext cx="2028584" cy="20116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138160" y="3648456"/>
            <a:ext cx="35204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50" b="1" i="0">
                <a:solidFill>
                  <a:srgbClr val="6B4226"/>
                </a:solidFill>
                <a:latin typeface="Trebuchet MS"/>
              </a:rPr>
              <a:t>3. Subtraction (Window)</a:t>
            </a:r>
          </a:p>
        </p:txBody>
      </p:sp>
      <p:pic>
        <p:nvPicPr>
          <p:cNvPr id="12" name="Picture 11" descr="sketch-4-combined-form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4348709"/>
            <a:ext cx="3520440" cy="1635301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48640" y="6208776"/>
            <a:ext cx="35204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50" b="1" i="0">
                <a:solidFill>
                  <a:srgbClr val="6B4226"/>
                </a:solidFill>
                <a:latin typeface="Trebuchet MS"/>
              </a:rPr>
              <a:t>4. Combined Form</a:t>
            </a:r>
          </a:p>
        </p:txBody>
      </p:sp>
      <p:pic>
        <p:nvPicPr>
          <p:cNvPr id="14" name="Picture 13" descr="sketch-5-addition-small-cube-on-top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67515" y="4160520"/>
            <a:ext cx="1672209" cy="201168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43400" y="6208776"/>
            <a:ext cx="35204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50" b="1" i="0">
                <a:solidFill>
                  <a:srgbClr val="6B4226"/>
                </a:solidFill>
                <a:latin typeface="Trebuchet MS"/>
              </a:rPr>
              <a:t>5. Addition (Small Cube on Top)</a:t>
            </a:r>
          </a:p>
        </p:txBody>
      </p:sp>
      <p:pic>
        <p:nvPicPr>
          <p:cNvPr id="16" name="Picture 15" descr="sketch-6-addition-side-cube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78102" y="4160520"/>
            <a:ext cx="3040554" cy="201168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8138160" y="6208776"/>
            <a:ext cx="35204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50" b="1" i="0">
                <a:solidFill>
                  <a:srgbClr val="6B4226"/>
                </a:solidFill>
                <a:latin typeface="Trebuchet MS"/>
              </a:rPr>
              <a:t>6. Addition (Side Cube)</a:t>
            </a:r>
          </a:p>
        </p:txBody>
      </p:sp>
    </p:spTree>
  </p:cSld>
  <p:clrMapOvr>
    <a:masterClrMapping/>
  </p:clrMapOvr>
  <p:timing>
    <p:tnLst>
      <p:par>
        <p:cTn id="2" dur="indefinite" restart="never" nodeType="tmRoot">
          <p:childTnLst>
            <p:seq concurrent="1" nextAc="seek">
              <p:cTn id="3" dur="indefinite" nodeType="mainSeq">
                <p:childTnLst>
                  <p:par>
                    <p:cTn id="4" fill="hold">
                      <p:stCondLst>
                        <p:cond delay="indefinite" evt="onClick"/>
                      </p:stCondLst>
                      <p:childTnLst>
                        <p:par>
                          <p:cTn id="5" fill="hold">
                            <p:childTnLst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7" fill="hold">
                                        <p:stCondLst>
                                          <p:cond delay="0"/>
                                        </p:stCondLst>
                                        <p:childTnLst>
                                          <p:par>
                                            <p:cTn id="8" presetID="1" presetClass="entr" presetSubtype="0" fill="hold" grpId="0" nodeType="withEffect">
                                              <p:childTnLst>
                                                <p:set>
                                                  <p:cBhvr>
                                                    <p:cTn id="9" dur="1" fill="hold">
                                                      <p:stCondLst>
                                                        <p:cond delay="0"/>
                                                      </p:stCondLst>
                                                      <p:childTnLst/>
                                                    </p:cTn>
                                                    <p:tgtEl>
                                                      <p:spTgt spid="6"/>
                                                    </p:tgtEl>
                                                    <p:attrNameLst>
                                                      <p:attrName>style.visibility</p:attrName>
                                                    </p:attrNameLst>
                                                  </p:cBhvr>
                                                  <p:to>
                                                    <p:strVal val="visible"/>
                                                  </p:to>
                                                </p:set>
                                              </p:childTnLst>
                                            </p:cTn>
                                          </p:par>
                                          <p:par>
                                            <p:cTn id="10" presetID="10" presetClass="entr" presetSubtype="0" fill="hold" grpId="0" nodeType="withEffect">
                                              <p:childTnLst>
                                                <p:animEffect transition="in" filter="fade">
                                                  <p:cBhvr>
                                                    <p:cTn id="11" dur="600"/>
                                                    <p:tgtEl>
                                                      <p:spTgt spid="6"/>
                                                    </p:tgtEl>
                                                  </p:cBhvr>
                                                </p:animEffect>
                                              </p:childTnLst>
                                            </p:cTn>
                                          </p:par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13" fill="hold">
                                        <p:stCondLst>
                                          <p:cond delay="0"/>
                                        </p:stCondLst>
                                        <p:childTnLst>
                                          <p:par>
                                            <p:cTn id="14" presetID="1" presetClass="entr" presetSubtype="0" fill="hold" grpId="0" nodeType="withEffect">
                                              <p:childTnLst>
                                                <p:set>
                                                  <p:cBhvr>
                                                    <p:cTn id="15" dur="1" fill="hold">
                                                      <p:stCondLst>
                                                        <p:cond delay="0"/>
                                                      </p:stCondLst>
                                                      <p:childTnLst/>
                                                    </p:cTn>
                                                    <p:tgtEl>
                                                      <p:spTgt spid="7"/>
                                                    </p:tgtEl>
                                                    <p:attrNameLst>
                                                      <p:attrName>style.visibility</p:attrName>
                                                    </p:attrNameLst>
                                                  </p:cBhvr>
                                                  <p:to>
                                                    <p:strVal val="visible"/>
                                                  </p:to>
                                                </p:set>
                                              </p:childTnLst>
                                            </p:cTn>
                                          </p:par>
                                          <p:par>
                                            <p:cTn id="16" presetID="10" presetClass="entr" presetSubtype="0" fill="hold" grpId="0" nodeType="withEffect">
                                              <p:childTnLst>
                                                <p:animEffect transition="in" filter="fade">
                                                  <p:cBhvr>
                                                    <p:cTn id="17" dur="600"/>
                                                    <p:tgtEl>
                                                      <p:spTgt spid="7"/>
                                                    </p:tgtEl>
                                                  </p:cBhvr>
                                                </p:animEffect>
                                              </p:childTnLst>
                                            </p:cTn>
                                          </p:par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 evt="onClick"/>
                      </p:stCondLst>
                      <p:childTnLst>
                        <p:par>
                          <p:cTn id="19" fill="hold">
                            <p:childTnLst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21" fill="hold">
                                        <p:stCondLst>
                                          <p:cond delay="0"/>
                                        </p:stCondLst>
                                        <p:childTnLst>
                                          <p:par>
                                            <p:cTn id="22" presetID="1" presetClass="entr" presetSubtype="0" fill="hold" grpId="0" nodeType="withEffect">
                                              <p:childTnLst>
                                                <p:set>
                                                  <p:cBhvr>
                                                    <p:cTn id="23" dur="1" fill="hold">
                                                      <p:stCondLst>
                                                        <p:cond delay="0"/>
                                                      </p:stCondLst>
                                                      <p:childTnLst/>
                                                    </p:cTn>
                                                    <p:tgtEl>
                                                      <p:spTgt spid="8"/>
                                                    </p:tgtEl>
                                                    <p:attrNameLst>
                                                      <p:attrName>style.visibility</p:attrName>
                                                    </p:attrNameLst>
                                                  </p:cBhvr>
                                                  <p:to>
                                                    <p:strVal val="visible"/>
                                                  </p:to>
                                                </p:set>
                                              </p:childTnLst>
                                            </p:cTn>
                                          </p:par>
                                          <p:par>
                                            <p:cTn id="24" presetID="10" presetClass="entr" presetSubtype="0" fill="hold" grpId="0" nodeType="withEffect">
                                              <p:childTnLst>
                                                <p:animEffect transition="in" filter="fade">
                                                  <p:cBhvr>
                                                    <p:cTn id="25" dur="600"/>
                                                    <p:tgtEl>
                                                      <p:spTgt spid="8"/>
                                                    </p:tgtEl>
                                                  </p:cBhvr>
                                                </p:animEffect>
                                              </p:childTnLst>
                                            </p:cTn>
                                          </p:par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27" fill="hold">
                                        <p:stCondLst>
                                          <p:cond delay="0"/>
                                        </p:stCondLst>
                                        <p:childTnLst>
                                          <p:par>
                                            <p:cTn id="28" presetID="1" presetClass="entr" presetSubtype="0" fill="hold" grpId="0" nodeType="withEffect">
                                              <p:childTnLst>
                                                <p:set>
                                                  <p:cBhvr>
                                                    <p:cTn id="29" dur="1" fill="hold">
                                                      <p:stCondLst>
                                                        <p:cond delay="0"/>
                                                      </p:stCondLst>
                                                      <p:childTnLst/>
                                                    </p:cTn>
                                                    <p:tgtEl>
                                                      <p:spTgt spid="9"/>
                                                    </p:tgtEl>
                                                    <p:attrNameLst>
                                                      <p:attrName>style.visibility</p:attrName>
                                                    </p:attrNameLst>
                                                  </p:cBhvr>
                                                  <p:to>
                                                    <p:strVal val="visible"/>
                                                  </p:to>
                                                </p:set>
                                              </p:childTnLst>
                                            </p:cTn>
                                          </p:par>
                                          <p:par>
                                            <p:cTn id="30" presetID="10" presetClass="entr" presetSubtype="0" fill="hold" grpId="0" nodeType="withEffect">
                                              <p:childTnLst>
                                                <p:animEffect transition="in" filter="fade">
                                                  <p:cBhvr>
                                                    <p:cTn id="31" dur="600"/>
                                                    <p:tgtEl>
                                                      <p:spTgt spid="9"/>
                                                    </p:tgtEl>
                                                  </p:cBhvr>
                                                </p:animEffect>
                                              </p:childTnLst>
                                            </p:cTn>
                                          </p:par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 evt="onClick"/>
                      </p:stCondLst>
                      <p:childTnLst>
                        <p:par>
                          <p:cTn id="33" fill="hold">
                            <p:childTnLst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35" fill="hold">
                                        <p:stCondLst>
                                          <p:cond delay="0"/>
                                        </p:stCondLst>
                                        <p:childTnLst>
                                          <p:par>
                                            <p:cTn id="36" presetID="1" presetClass="entr" presetSubtype="0" fill="hold" grpId="0" nodeType="withEffect">
                                              <p:childTnLst>
                                                <p:set>
                                                  <p:cBhvr>
                                                    <p:cTn id="37" dur="1" fill="hold">
                                                      <p:stCondLst>
                                                        <p:cond delay="0"/>
                                                      </p:stCondLst>
                                                      <p:childTnLst/>
                                                    </p:cTn>
                                                    <p:tgtEl>
                                                      <p:spTgt spid="10"/>
                                                    </p:tgtEl>
                                                    <p:attrNameLst>
                                                      <p:attrName>style.visibility</p:attrName>
                                                    </p:attrNameLst>
                                                  </p:cBhvr>
                                                  <p:to>
                                                    <p:strVal val="visible"/>
                                                  </p:to>
                                                </p:set>
                                              </p:childTnLst>
                                            </p:cTn>
                                          </p:par>
                                          <p:par>
                                            <p:cTn id="38" presetID="10" presetClass="entr" presetSubtype="0" fill="hold" grpId="0" nodeType="withEffect">
                                              <p:childTnLst>
                                                <p:animEffect transition="in" filter="fade">
                                                  <p:cBhvr>
                                                    <p:cTn id="39" dur="600"/>
                                                    <p:tgtEl>
                                                      <p:spTgt spid="10"/>
                                                    </p:tgtEl>
                                                  </p:cBhvr>
                                                </p:animEffect>
                                              </p:childTnLst>
                                            </p:cTn>
                                          </p:par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41" fill="hold">
                                        <p:stCondLst>
                                          <p:cond delay="0"/>
                                        </p:stCondLst>
                                        <p:childTnLst>
                                          <p:par>
                                            <p:cTn id="42" presetID="1" presetClass="entr" presetSubtype="0" fill="hold" grpId="0" nodeType="withEffect">
                                              <p:childTnLst>
                                                <p:set>
                                                  <p:cBhvr>
                                                    <p:cTn id="43" dur="1" fill="hold">
                                                      <p:stCondLst>
                                                        <p:cond delay="0"/>
                                                      </p:stCondLst>
                                                      <p:childTnLst/>
                                                    </p:cTn>
                                                    <p:tgtEl>
                                                      <p:spTgt spid="11"/>
                                                    </p:tgtEl>
                                                    <p:attrNameLst>
                                                      <p:attrName>style.visibility</p:attrName>
                                                    </p:attrNameLst>
                                                  </p:cBhvr>
                                                  <p:to>
                                                    <p:strVal val="visible"/>
                                                  </p:to>
                                                </p:set>
                                              </p:childTnLst>
                                            </p:cTn>
                                          </p:par>
                                          <p:par>
                                            <p:cTn id="44" presetID="10" presetClass="entr" presetSubtype="0" fill="hold" grpId="0" nodeType="withEffect">
                                              <p:childTnLst>
                                                <p:animEffect transition="in" filter="fade">
                                                  <p:cBhvr>
                                                    <p:cTn id="45" dur="600"/>
                                                    <p:tgtEl>
                                                      <p:spTgt spid="11"/>
                                                    </p:tgtEl>
                                                  </p:cBhvr>
                                                </p:animEffect>
                                              </p:childTnLst>
                                            </p:cTn>
                                          </p:par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 evt="onClick"/>
                      </p:stCondLst>
                      <p:childTnLst>
                        <p:par>
                          <p:cTn id="47" fill="hold">
                            <p:childTnLst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49" fill="hold">
                                        <p:stCondLst>
                                          <p:cond delay="0"/>
                                        </p:stCondLst>
                                        <p:childTnLst>
                                          <p:par>
                                            <p:cTn id="50" presetID="1" presetClass="entr" presetSubtype="0" fill="hold" grpId="0" nodeType="withEffect">
                                              <p:childTnLst>
                                                <p:set>
                                                  <p:cBhvr>
                                                    <p:cTn id="51" dur="1" fill="hold">
                                                      <p:stCondLst>
                                                        <p:cond delay="0"/>
                                                      </p:stCondLst>
                                                      <p:childTnLst/>
                                                    </p:cTn>
                                                    <p:tgtEl>
                                                      <p:spTgt spid="12"/>
                                                    </p:tgtEl>
                                                    <p:attrNameLst>
                                                      <p:attrName>style.visibility</p:attrName>
                                                    </p:attrNameLst>
                                                  </p:cBhvr>
                                                  <p:to>
                                                    <p:strVal val="visible"/>
                                                  </p:to>
                                                </p:set>
                                              </p:childTnLst>
                                            </p:cTn>
                                          </p:par>
                                          <p:par>
                                            <p:cTn id="52" presetID="10" presetClass="entr" presetSubtype="0" fill="hold" grpId="0" nodeType="withEffect">
                                              <p:childTnLst>
                                                <p:animEffect transition="in" filter="fade">
                                                  <p:cBhvr>
                                                    <p:cTn id="53" dur="600"/>
                                                    <p:tgtEl>
                                                      <p:spTgt spid="12"/>
                                                    </p:tgtEl>
                                                  </p:cBhvr>
                                                </p:animEffect>
                                              </p:childTnLst>
                                            </p:cTn>
                                          </p:par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55" fill="hold">
                                        <p:stCondLst>
                                          <p:cond delay="0"/>
                                        </p:stCondLst>
                                        <p:childTnLst>
                                          <p:par>
                                            <p:cTn id="56" presetID="1" presetClass="entr" presetSubtype="0" fill="hold" grpId="0" nodeType="withEffect">
                                              <p:childTnLst>
                                                <p:set>
                                                  <p:cBhvr>
                                                    <p:cTn id="57" dur="1" fill="hold">
                                                      <p:stCondLst>
                                                        <p:cond delay="0"/>
                                                      </p:stCondLst>
                                                      <p:childTnLst/>
                                                    </p:cTn>
                                                    <p:tgtEl>
                                                      <p:spTgt spid="13"/>
                                                    </p:tgtEl>
                                                    <p:attrNameLst>
                                                      <p:attrName>style.visibility</p:attrName>
                                                    </p:attrNameLst>
                                                  </p:cBhvr>
                                                  <p:to>
                                                    <p:strVal val="visible"/>
                                                  </p:to>
                                                </p:set>
                                              </p:childTnLst>
                                            </p:cTn>
                                          </p:par>
                                          <p:par>
                                            <p:cTn id="58" presetID="10" presetClass="entr" presetSubtype="0" fill="hold" grpId="0" nodeType="withEffect">
                                              <p:childTnLst>
                                                <p:animEffect transition="in" filter="fade">
                                                  <p:cBhvr>
                                                    <p:cTn id="59" dur="600"/>
                                                    <p:tgtEl>
                                                      <p:spTgt spid="13"/>
                                                    </p:tgtEl>
                                                  </p:cBhvr>
                                                </p:animEffect>
                                              </p:childTnLst>
                                            </p:cTn>
                                          </p:par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 evt="onClick"/>
                      </p:stCondLst>
                      <p:childTnLst>
                        <p:par>
                          <p:cTn id="61" fill="hold">
                            <p:childTnLst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63" fill="hold">
                                        <p:stCondLst>
                                          <p:cond delay="0"/>
                                        </p:stCondLst>
                                        <p:childTnLst>
                                          <p:par>
                                            <p:cTn id="64" presetID="1" presetClass="entr" presetSubtype="0" fill="hold" grpId="0" nodeType="withEffect">
                                              <p:childTnLst>
                                                <p:set>
                                                  <p:cBhvr>
                                                    <p:cTn id="65" dur="1" fill="hold">
                                                      <p:stCondLst>
                                                        <p:cond delay="0"/>
                                                      </p:stCondLst>
                                                      <p:childTnLst/>
                                                    </p:cTn>
                                                    <p:tgtEl>
                                                      <p:spTgt spid="14"/>
                                                    </p:tgtEl>
                                                    <p:attrNameLst>
                                                      <p:attrName>style.visibility</p:attrName>
                                                    </p:attrNameLst>
                                                  </p:cBhvr>
                                                  <p:to>
                                                    <p:strVal val="visible"/>
                                                  </p:to>
                                                </p:set>
                                              </p:childTnLst>
                                            </p:cTn>
                                          </p:par>
                                          <p:par>
                                            <p:cTn id="66" presetID="10" presetClass="entr" presetSubtype="0" fill="hold" grpId="0" nodeType="withEffect">
                                              <p:childTnLst>
                                                <p:animEffect transition="in" filter="fade">
                                                  <p:cBhvr>
                                                    <p:cTn id="67" dur="600"/>
                                                    <p:tgtEl>
                                                      <p:spTgt spid="14"/>
                                                    </p:tgtEl>
                                                  </p:cBhvr>
                                                </p:animEffect>
                                              </p:childTnLst>
                                            </p:cTn>
                                          </p:par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69" fill="hold">
                                        <p:stCondLst>
                                          <p:cond delay="0"/>
                                        </p:stCondLst>
                                        <p:childTnLst>
                                          <p:par>
                                            <p:cTn id="70" presetID="1" presetClass="entr" presetSubtype="0" fill="hold" grpId="0" nodeType="withEffect">
                                              <p:childTnLst>
                                                <p:set>
                                                  <p:cBhvr>
                                                    <p:cTn id="71" dur="1" fill="hold">
                                                      <p:stCondLst>
                                                        <p:cond delay="0"/>
                                                      </p:stCondLst>
                                                      <p:childTnLst/>
                                                    </p:cTn>
                                                    <p:tgtEl>
                                                      <p:spTgt spid="15"/>
                                                    </p:tgtEl>
                                                    <p:attrNameLst>
                                                      <p:attrName>style.visibility</p:attrName>
                                                    </p:attrNameLst>
                                                  </p:cBhvr>
                                                  <p:to>
                                                    <p:strVal val="visible"/>
                                                  </p:to>
                                                </p:set>
                                              </p:childTnLst>
                                            </p:cTn>
                                          </p:par>
                                          <p:par>
                                            <p:cTn id="72" presetID="10" presetClass="entr" presetSubtype="0" fill="hold" grpId="0" nodeType="withEffect">
                                              <p:childTnLst>
                                                <p:animEffect transition="in" filter="fade">
                                                  <p:cBhvr>
                                                    <p:cTn id="73" dur="600"/>
                                                    <p:tgtEl>
                                                      <p:spTgt spid="15"/>
                                                    </p:tgtEl>
                                                  </p:cBhvr>
                                                </p:animEffect>
                                              </p:childTnLst>
                                            </p:cTn>
                                          </p:par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4" fill="hold">
                      <p:stCondLst>
                        <p:cond delay="indefinite" evt="onClick"/>
                      </p:stCondLst>
                      <p:childTnLst>
                        <p:par>
                          <p:cTn id="75" fill="hold">
                            <p:childTnLst>
                              <p:par>
                                <p:cTn id="7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77" fill="hold">
                                        <p:stCondLst>
                                          <p:cond delay="0"/>
                                        </p:stCondLst>
                                        <p:childTnLst>
                                          <p:par>
                                            <p:cTn id="78" presetID="1" presetClass="entr" presetSubtype="0" fill="hold" grpId="0" nodeType="withEffect">
                                              <p:childTnLst>
                                                <p:set>
                                                  <p:cBhvr>
                                                    <p:cTn id="79" dur="1" fill="hold">
                                                      <p:stCondLst>
                                                        <p:cond delay="0"/>
                                                      </p:stCondLst>
                                                      <p:childTnLst/>
                                                    </p:cTn>
                                                    <p:tgtEl>
                                                      <p:spTgt spid="16"/>
                                                    </p:tgtEl>
                                                    <p:attrNameLst>
                                                      <p:attrName>style.visibility</p:attrName>
                                                    </p:attrNameLst>
                                                  </p:cBhvr>
                                                  <p:to>
                                                    <p:strVal val="visible"/>
                                                  </p:to>
                                                </p:set>
                                              </p:childTnLst>
                                            </p:cTn>
                                          </p:par>
                                          <p:par>
                                            <p:cTn id="80" presetID="10" presetClass="entr" presetSubtype="0" fill="hold" grpId="0" nodeType="withEffect">
                                              <p:childTnLst>
                                                <p:animEffect transition="in" filter="fade">
                                                  <p:cBhvr>
                                                    <p:cTn id="81" dur="600"/>
                                                    <p:tgtEl>
                                                      <p:spTgt spid="16"/>
                                                    </p:tgtEl>
                                                  </p:cBhvr>
                                                </p:animEffect>
                                              </p:childTnLst>
                                            </p:cTn>
                                          </p:par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83" fill="hold">
                                        <p:stCondLst>
                                          <p:cond delay="0"/>
                                        </p:stCondLst>
                                        <p:childTnLst>
                                          <p:par>
                                            <p:cTn id="84" presetID="1" presetClass="entr" presetSubtype="0" fill="hold" grpId="0" nodeType="withEffect">
                                              <p:childTnLst>
                                                <p:set>
                                                  <p:cBhvr>
                                                    <p:cTn id="85" dur="1" fill="hold">
                                                      <p:stCondLst>
                                                        <p:cond delay="0"/>
                                                      </p:stCondLst>
                                                      <p:childTnLst/>
                                                    </p:cTn>
                                                    <p:tgtEl>
                                                      <p:spTgt spid="17"/>
                                                    </p:tgtEl>
                                                    <p:attrNameLst>
                                                      <p:attrName>style.visibility</p:attrName>
                                                    </p:attrNameLst>
                                                  </p:cBhvr>
                                                  <p:to>
                                                    <p:strVal val="visible"/>
                                                  </p:to>
                                                </p:set>
                                              </p:childTnLst>
                                            </p:cTn>
                                          </p:par>
                                          <p:par>
                                            <p:cTn id="86" presetID="10" presetClass="entr" presetSubtype="0" fill="hold" grpId="0" nodeType="withEffect">
                                              <p:childTnLst>
                                                <p:animEffect transition="in" filter="fade">
                                                  <p:cBhvr>
                                                    <p:cTn id="87" dur="600"/>
                                                    <p:tgtEl>
                                                      <p:spTgt spid="17"/>
                                                    </p:tgtEl>
                                                  </p:cBhvr>
                                                </p:animEffect>
                                              </p:childTnLst>
                                            </p:cTn>
                                          </p:par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Click" delay="0">
                  <p:tgtEl>
                    <p:sldTgt/>
                  </p:tgtEl>
                </p:cond>
              </p:prevCondLst>
              <p:nextCondLst>
                <p:cond evt="onClick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</p:bld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4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106424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6B4226"/>
                </a:solidFill>
                <a:latin typeface="Trebuchet MS"/>
              </a:rPr>
              <a:t>The Construction Process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66928" y="932688"/>
            <a:ext cx="1463040" cy="64008"/>
          </a:xfrm>
          <a:prstGeom prst="roundRect">
            <a:avLst/>
          </a:prstGeom>
          <a:solidFill>
            <a:srgbClr val="E3A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42415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8A7A66"/>
                </a:solidFill>
                <a:latin typeface="Trebuchet MS"/>
              </a:rPr>
              <a:t>Then, building it in clay, one stage at a time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8A7A66"/>
                </a:solidFill>
                <a:latin typeface="Trebuchet MS"/>
              </a:rPr>
              <a:t>Grizzly — The Clay House</a:t>
            </a:r>
          </a:p>
        </p:txBody>
      </p:sp>
      <p:pic>
        <p:nvPicPr>
          <p:cNvPr id="6" name="Picture 5" descr="process-1-wall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461736"/>
            <a:ext cx="3520439" cy="19802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5440680"/>
            <a:ext cx="35204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450" b="1" i="0">
                <a:solidFill>
                  <a:srgbClr val="6B4226"/>
                </a:solidFill>
                <a:latin typeface="Trebuchet MS"/>
              </a:rPr>
              <a:t>Step 1: Raising the clay walls</a:t>
            </a:r>
          </a:p>
        </p:txBody>
      </p:sp>
      <p:pic>
        <p:nvPicPr>
          <p:cNvPr id="8" name="Picture 7" descr="process-2-main-cube-entranc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36343" y="1554480"/>
            <a:ext cx="2134552" cy="37947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343400" y="5440680"/>
            <a:ext cx="35204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450" b="1" i="0">
                <a:solidFill>
                  <a:srgbClr val="6B4226"/>
                </a:solidFill>
                <a:latin typeface="Trebuchet MS"/>
              </a:rPr>
              <a:t>Step 2: The main cube takes shape, with its arched entrance</a:t>
            </a:r>
          </a:p>
        </p:txBody>
      </p:sp>
      <p:pic>
        <p:nvPicPr>
          <p:cNvPr id="10" name="Picture 9" descr="process-3-side-cube-window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31103" y="1554480"/>
            <a:ext cx="2134552" cy="37947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138160" y="5440680"/>
            <a:ext cx="35204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450" b="1" i="0">
                <a:solidFill>
                  <a:srgbClr val="6B4226"/>
                </a:solidFill>
                <a:latin typeface="Trebuchet MS"/>
              </a:rPr>
              <a:t>Step 3: The side cube and window are added</a:t>
            </a:r>
          </a:p>
        </p:txBody>
      </p:sp>
    </p:spTree>
  </p:cSld>
  <p:clrMapOvr>
    <a:masterClrMapping/>
  </p:clrMapOvr>
  <p:timing>
    <p:tnLst>
      <p:par>
        <p:cTn id="2" dur="indefinite" restart="never" nodeType="tmRoot">
          <p:childTnLst>
            <p:seq concurrent="1" nextAc="seek">
              <p:cTn id="3" dur="indefinite" nodeType="mainSeq">
                <p:childTnLst>
                  <p:par>
                    <p:cTn id="4" fill="hold">
                      <p:stCondLst>
                        <p:cond delay="indefinite" evt="onClick"/>
                      </p:stCondLst>
                      <p:childTnLst>
                        <p:par>
                          <p:cTn id="5" fill="hold">
                            <p:childTnLst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7" fill="hold">
                                        <p:stCondLst>
                                          <p:cond delay="0"/>
                                        </p:stCondLst>
                                        <p:childTnLst>
                                          <p:par>
                                            <p:cTn id="8" presetID="1" presetClass="entr" presetSubtype="0" fill="hold" grpId="0" nodeType="withEffect">
                                              <p:childTnLst>
                                                <p:set>
                                                  <p:cBhvr>
                                                    <p:cTn id="9" dur="1" fill="hold">
                                                      <p:stCondLst>
                                                        <p:cond delay="0"/>
                                                      </p:stCondLst>
                                                      <p:childTnLst/>
                                                    </p:cTn>
                                                    <p:tgtEl>
                                                      <p:spTgt spid="6"/>
                                                    </p:tgtEl>
                                                    <p:attrNameLst>
                                                      <p:attrName>style.visibility</p:attrName>
                                                    </p:attrNameLst>
                                                  </p:cBhvr>
                                                  <p:to>
                                                    <p:strVal val="visible"/>
                                                  </p:to>
                                                </p:set>
                                              </p:childTnLst>
                                            </p:cTn>
                                          </p:par>
                                          <p:par>
                                            <p:cTn id="10" presetID="10" presetClass="entr" presetSubtype="0" fill="hold" grpId="0" nodeType="withEffect">
                                              <p:childTnLst>
                                                <p:animEffect transition="in" filter="fade">
                                                  <p:cBhvr>
                                                    <p:cTn id="11" dur="600"/>
                                                    <p:tgtEl>
                                                      <p:spTgt spid="6"/>
                                                    </p:tgtEl>
                                                  </p:cBhvr>
                                                </p:animEffect>
                                              </p:childTnLst>
                                            </p:cTn>
                                          </p:par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13" fill="hold">
                                        <p:stCondLst>
                                          <p:cond delay="0"/>
                                        </p:stCondLst>
                                        <p:childTnLst>
                                          <p:par>
                                            <p:cTn id="14" presetID="1" presetClass="entr" presetSubtype="0" fill="hold" grpId="0" nodeType="withEffect">
                                              <p:childTnLst>
                                                <p:set>
                                                  <p:cBhvr>
                                                    <p:cTn id="15" dur="1" fill="hold">
                                                      <p:stCondLst>
                                                        <p:cond delay="0"/>
                                                      </p:stCondLst>
                                                      <p:childTnLst/>
                                                    </p:cTn>
                                                    <p:tgtEl>
                                                      <p:spTgt spid="7"/>
                                                    </p:tgtEl>
                                                    <p:attrNameLst>
                                                      <p:attrName>style.visibility</p:attrName>
                                                    </p:attrNameLst>
                                                  </p:cBhvr>
                                                  <p:to>
                                                    <p:strVal val="visible"/>
                                                  </p:to>
                                                </p:set>
                                              </p:childTnLst>
                                            </p:cTn>
                                          </p:par>
                                          <p:par>
                                            <p:cTn id="16" presetID="10" presetClass="entr" presetSubtype="0" fill="hold" grpId="0" nodeType="withEffect">
                                              <p:childTnLst>
                                                <p:animEffect transition="in" filter="fade">
                                                  <p:cBhvr>
                                                    <p:cTn id="17" dur="600"/>
                                                    <p:tgtEl>
                                                      <p:spTgt spid="7"/>
                                                    </p:tgtEl>
                                                  </p:cBhvr>
                                                </p:animEffect>
                                              </p:childTnLst>
                                            </p:cTn>
                                          </p:par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 evt="onClick"/>
                      </p:stCondLst>
                      <p:childTnLst>
                        <p:par>
                          <p:cTn id="19" fill="hold">
                            <p:childTnLst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21" fill="hold">
                                        <p:stCondLst>
                                          <p:cond delay="0"/>
                                        </p:stCondLst>
                                        <p:childTnLst>
                                          <p:par>
                                            <p:cTn id="22" presetID="1" presetClass="entr" presetSubtype="0" fill="hold" grpId="0" nodeType="withEffect">
                                              <p:childTnLst>
                                                <p:set>
                                                  <p:cBhvr>
                                                    <p:cTn id="23" dur="1" fill="hold">
                                                      <p:stCondLst>
                                                        <p:cond delay="0"/>
                                                      </p:stCondLst>
                                                      <p:childTnLst/>
                                                    </p:cTn>
                                                    <p:tgtEl>
                                                      <p:spTgt spid="8"/>
                                                    </p:tgtEl>
                                                    <p:attrNameLst>
                                                      <p:attrName>style.visibility</p:attrName>
                                                    </p:attrNameLst>
                                                  </p:cBhvr>
                                                  <p:to>
                                                    <p:strVal val="visible"/>
                                                  </p:to>
                                                </p:set>
                                              </p:childTnLst>
                                            </p:cTn>
                                          </p:par>
                                          <p:par>
                                            <p:cTn id="24" presetID="10" presetClass="entr" presetSubtype="0" fill="hold" grpId="0" nodeType="withEffect">
                                              <p:childTnLst>
                                                <p:animEffect transition="in" filter="fade">
                                                  <p:cBhvr>
                                                    <p:cTn id="25" dur="600"/>
                                                    <p:tgtEl>
                                                      <p:spTgt spid="8"/>
                                                    </p:tgtEl>
                                                  </p:cBhvr>
                                                </p:animEffect>
                                              </p:childTnLst>
                                            </p:cTn>
                                          </p:par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27" fill="hold">
                                        <p:stCondLst>
                                          <p:cond delay="0"/>
                                        </p:stCondLst>
                                        <p:childTnLst>
                                          <p:par>
                                            <p:cTn id="28" presetID="1" presetClass="entr" presetSubtype="0" fill="hold" grpId="0" nodeType="withEffect">
                                              <p:childTnLst>
                                                <p:set>
                                                  <p:cBhvr>
                                                    <p:cTn id="29" dur="1" fill="hold">
                                                      <p:stCondLst>
                                                        <p:cond delay="0"/>
                                                      </p:stCondLst>
                                                      <p:childTnLst/>
                                                    </p:cTn>
                                                    <p:tgtEl>
                                                      <p:spTgt spid="9"/>
                                                    </p:tgtEl>
                                                    <p:attrNameLst>
                                                      <p:attrName>style.visibility</p:attrName>
                                                    </p:attrNameLst>
                                                  </p:cBhvr>
                                                  <p:to>
                                                    <p:strVal val="visible"/>
                                                  </p:to>
                                                </p:set>
                                              </p:childTnLst>
                                            </p:cTn>
                                          </p:par>
                                          <p:par>
                                            <p:cTn id="30" presetID="10" presetClass="entr" presetSubtype="0" fill="hold" grpId="0" nodeType="withEffect">
                                              <p:childTnLst>
                                                <p:animEffect transition="in" filter="fade">
                                                  <p:cBhvr>
                                                    <p:cTn id="31" dur="600"/>
                                                    <p:tgtEl>
                                                      <p:spTgt spid="9"/>
                                                    </p:tgtEl>
                                                  </p:cBhvr>
                                                </p:animEffect>
                                              </p:childTnLst>
                                            </p:cTn>
                                          </p:par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 evt="onClick"/>
                      </p:stCondLst>
                      <p:childTnLst>
                        <p:par>
                          <p:cTn id="33" fill="hold">
                            <p:childTnLst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35" fill="hold">
                                        <p:stCondLst>
                                          <p:cond delay="0"/>
                                        </p:stCondLst>
                                        <p:childTnLst>
                                          <p:par>
                                            <p:cTn id="36" presetID="1" presetClass="entr" presetSubtype="0" fill="hold" grpId="0" nodeType="withEffect">
                                              <p:childTnLst>
                                                <p:set>
                                                  <p:cBhvr>
                                                    <p:cTn id="37" dur="1" fill="hold">
                                                      <p:stCondLst>
                                                        <p:cond delay="0"/>
                                                      </p:stCondLst>
                                                      <p:childTnLst/>
                                                    </p:cTn>
                                                    <p:tgtEl>
                                                      <p:spTgt spid="10"/>
                                                    </p:tgtEl>
                                                    <p:attrNameLst>
                                                      <p:attrName>style.visibility</p:attrName>
                                                    </p:attrNameLst>
                                                  </p:cBhvr>
                                                  <p:to>
                                                    <p:strVal val="visible"/>
                                                  </p:to>
                                                </p:set>
                                              </p:childTnLst>
                                            </p:cTn>
                                          </p:par>
                                          <p:par>
                                            <p:cTn id="38" presetID="10" presetClass="entr" presetSubtype="0" fill="hold" grpId="0" nodeType="withEffect">
                                              <p:childTnLst>
                                                <p:animEffect transition="in" filter="fade">
                                                  <p:cBhvr>
                                                    <p:cTn id="39" dur="600"/>
                                                    <p:tgtEl>
                                                      <p:spTgt spid="10"/>
                                                    </p:tgtEl>
                                                  </p:cBhvr>
                                                </p:animEffect>
                                              </p:childTnLst>
                                            </p:cTn>
                                          </p:par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41" fill="hold">
                                        <p:stCondLst>
                                          <p:cond delay="0"/>
                                        </p:stCondLst>
                                        <p:childTnLst>
                                          <p:par>
                                            <p:cTn id="42" presetID="1" presetClass="entr" presetSubtype="0" fill="hold" grpId="0" nodeType="withEffect">
                                              <p:childTnLst>
                                                <p:set>
                                                  <p:cBhvr>
                                                    <p:cTn id="43" dur="1" fill="hold">
                                                      <p:stCondLst>
                                                        <p:cond delay="0"/>
                                                      </p:stCondLst>
                                                      <p:childTnLst/>
                                                    </p:cTn>
                                                    <p:tgtEl>
                                                      <p:spTgt spid="11"/>
                                                    </p:tgtEl>
                                                    <p:attrNameLst>
                                                      <p:attrName>style.visibility</p:attrName>
                                                    </p:attrNameLst>
                                                  </p:cBhvr>
                                                  <p:to>
                                                    <p:strVal val="visible"/>
                                                  </p:to>
                                                </p:set>
                                              </p:childTnLst>
                                            </p:cTn>
                                          </p:par>
                                          <p:par>
                                            <p:cTn id="44" presetID="10" presetClass="entr" presetSubtype="0" fill="hold" grpId="0" nodeType="withEffect">
                                              <p:childTnLst>
                                                <p:animEffect transition="in" filter="fade">
                                                  <p:cBhvr>
                                                    <p:cTn id="45" dur="600"/>
                                                    <p:tgtEl>
                                                      <p:spTgt spid="11"/>
                                                    </p:tgtEl>
                                                  </p:cBhvr>
                                                </p:animEffect>
                                              </p:childTnLst>
                                            </p:cTn>
                                          </p:par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Click" delay="0">
                  <p:tgtEl>
                    <p:sldTgt/>
                  </p:tgtEl>
                </p:cond>
              </p:prevCondLst>
              <p:nextCondLst>
                <p:cond evt="onClick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  <p:bldP spid="8" grpId="0"/>
      <p:bldP spid="9" grpId="0"/>
      <p:bldP spid="10" grpId="0"/>
      <p:bldP spid="11" grpId="0"/>
    </p:bld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4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106424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6B4226"/>
                </a:solidFill>
                <a:latin typeface="Trebuchet MS"/>
              </a:rPr>
              <a:t>Grizzly's Qualities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66928" y="932688"/>
            <a:ext cx="1463040" cy="64008"/>
          </a:xfrm>
          <a:prstGeom prst="roundRect">
            <a:avLst/>
          </a:prstGeom>
          <a:solidFill>
            <a:srgbClr val="E3A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8A7A66"/>
                </a:solidFill>
                <a:latin typeface="Trebuchet MS"/>
              </a:rPr>
              <a:t>Grizzly — The Clay House</a:t>
            </a:r>
          </a:p>
        </p:txBody>
      </p:sp>
      <p:pic>
        <p:nvPicPr>
          <p:cNvPr id="5" name="Picture 4" descr="grizzly-be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2692" y="1828800"/>
            <a:ext cx="3560934" cy="291693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0" y="2011680"/>
            <a:ext cx="3383280" cy="2560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100" b="0" i="0">
                <a:solidFill>
                  <a:srgbClr val="3E2A1A"/>
                </a:solidFill>
                <a:latin typeface="Trebuchet MS"/>
              </a:rPr>
              <a:t>•  Caring</a:t>
            </a:r>
          </a:p>
          <a:p>
            <a:pPr algn="l">
              <a:lnSpc>
                <a:spcPct val="150000"/>
              </a:lnSpc>
            </a:pPr>
            <a:r>
              <a:rPr sz="2100" b="0" i="0">
                <a:solidFill>
                  <a:srgbClr val="3E2A1A"/>
                </a:solidFill>
                <a:latin typeface="Trebuchet MS"/>
              </a:rPr>
              <a:t>•  Loving</a:t>
            </a:r>
          </a:p>
          <a:p>
            <a:pPr algn="l">
              <a:lnSpc>
                <a:spcPct val="150000"/>
              </a:lnSpc>
            </a:pPr>
            <a:r>
              <a:rPr sz="2100" b="0" i="0">
                <a:solidFill>
                  <a:srgbClr val="3E2A1A"/>
                </a:solidFill>
                <a:latin typeface="Trebuchet MS"/>
              </a:rPr>
              <a:t>•  Friendly</a:t>
            </a:r>
          </a:p>
          <a:p>
            <a:pPr algn="l">
              <a:lnSpc>
                <a:spcPct val="150000"/>
              </a:lnSpc>
            </a:pPr>
            <a:r>
              <a:rPr sz="2100" b="0" i="0">
                <a:solidFill>
                  <a:srgbClr val="3E2A1A"/>
                </a:solidFill>
                <a:latin typeface="Trebuchet MS"/>
              </a:rPr>
              <a:t>•  Adventurous</a:t>
            </a:r>
          </a:p>
          <a:p>
            <a:pPr algn="l">
              <a:lnSpc>
                <a:spcPct val="150000"/>
              </a:lnSpc>
            </a:pPr>
            <a:r>
              <a:rPr sz="2100" b="0" i="0">
                <a:solidFill>
                  <a:srgbClr val="3E2A1A"/>
                </a:solidFill>
                <a:latin typeface="Trebuchet MS"/>
              </a:rPr>
              <a:t>•  Impatient</a:t>
            </a:r>
          </a:p>
          <a:p>
            <a:pPr algn="l">
              <a:lnSpc>
                <a:spcPct val="150000"/>
              </a:lnSpc>
            </a:pPr>
            <a:r>
              <a:rPr sz="2100" b="0" i="0">
                <a:solidFill>
                  <a:srgbClr val="3E2A1A"/>
                </a:solidFill>
                <a:latin typeface="Trebuchet MS"/>
              </a:rPr>
              <a:t>•  Naturist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0" y="2011680"/>
            <a:ext cx="3383280" cy="2560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100" b="0" i="0">
                <a:solidFill>
                  <a:srgbClr val="3E2A1A"/>
                </a:solidFill>
                <a:latin typeface="Trebuchet MS"/>
              </a:rPr>
              <a:t>•  Brave</a:t>
            </a:r>
          </a:p>
          <a:p>
            <a:pPr algn="l">
              <a:lnSpc>
                <a:spcPct val="150000"/>
              </a:lnSpc>
            </a:pPr>
            <a:r>
              <a:rPr sz="2100" b="0" i="0">
                <a:solidFill>
                  <a:srgbClr val="3E2A1A"/>
                </a:solidFill>
                <a:latin typeface="Trebuchet MS"/>
              </a:rPr>
              <a:t>•  Protective</a:t>
            </a:r>
          </a:p>
          <a:p>
            <a:pPr algn="l">
              <a:lnSpc>
                <a:spcPct val="150000"/>
              </a:lnSpc>
            </a:pPr>
            <a:r>
              <a:rPr sz="2100" b="0" i="0">
                <a:solidFill>
                  <a:srgbClr val="3E2A1A"/>
                </a:solidFill>
                <a:latin typeface="Trebuchet MS"/>
              </a:rPr>
              <a:t>•  Enthusiastic</a:t>
            </a:r>
          </a:p>
          <a:p>
            <a:pPr algn="l">
              <a:lnSpc>
                <a:spcPct val="150000"/>
              </a:lnSpc>
            </a:pPr>
            <a:r>
              <a:rPr sz="2100" b="0" i="0">
                <a:solidFill>
                  <a:srgbClr val="3E2A1A"/>
                </a:solidFill>
                <a:latin typeface="Trebuchet MS"/>
              </a:rPr>
              <a:t>•  Loyal</a:t>
            </a:r>
          </a:p>
          <a:p>
            <a:pPr algn="l">
              <a:lnSpc>
                <a:spcPct val="150000"/>
              </a:lnSpc>
            </a:pPr>
            <a:r>
              <a:rPr sz="2100" b="0" i="0">
                <a:solidFill>
                  <a:srgbClr val="3E2A1A"/>
                </a:solidFill>
                <a:latin typeface="Trebuchet MS"/>
              </a:rPr>
              <a:t>•  Curious</a:t>
            </a:r>
          </a:p>
          <a:p>
            <a:pPr algn="l">
              <a:lnSpc>
                <a:spcPct val="150000"/>
              </a:lnSpc>
            </a:pPr>
            <a:r>
              <a:rPr sz="2100" b="0" i="0">
                <a:solidFill>
                  <a:srgbClr val="3E2A1A"/>
                </a:solidFill>
                <a:latin typeface="Trebuchet MS"/>
              </a:rPr>
              <a:t>•  Foody</a:t>
            </a:r>
          </a:p>
        </p:txBody>
      </p:sp>
    </p:spTree>
  </p:cSld>
  <p:clrMapOvr>
    <a:masterClrMapping/>
  </p:clrMapOvr>
  <p:timing>
    <p:tnLst>
      <p:par>
        <p:cTn id="2" dur="indefinite" restart="never" nodeType="tmRoot">
          <p:childTnLst>
            <p:seq concurrent="1" nextAc="seek">
              <p:cTn id="3" dur="indefinite" nodeType="mainSeq">
                <p:childTnLst>
                  <p:par>
                    <p:cTn id="4" fill="hold">
                      <p:stCondLst>
                        <p:cond delay="indefinite" evt="onClick"/>
                      </p:stCondLst>
                      <p:childTnLst>
                        <p:par>
                          <p:cTn id="5" fill="hold">
                            <p:childTnLst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7" fill="hold">
                                        <p:stCondLst>
                                          <p:cond delay="0"/>
                                        </p:stCondLst>
                                        <p:childTnLst>
                                          <p:par>
                                            <p:cTn id="8" presetID="1" presetClass="entr" presetSubtype="0" fill="hold" grpId="0" nodeType="withEffect">
                                              <p:childTnLst>
                                                <p:set>
                                                  <p:cBhvr>
                                                    <p:cTn id="9" dur="1" fill="hold">
                                                      <p:stCondLst>
                                                        <p:cond delay="0"/>
                                                      </p:stCondLst>
                                                      <p:childTnLst/>
                                                    </p:cTn>
                                                    <p:tgtEl>
                                                      <p:spTgt spid="5"/>
                                                    </p:tgtEl>
                                                    <p:attrNameLst>
                                                      <p:attrName>style.visibility</p:attrName>
                                                    </p:attrNameLst>
                                                  </p:cBhvr>
                                                  <p:to>
                                                    <p:strVal val="visible"/>
                                                  </p:to>
                                                </p:set>
                                              </p:childTnLst>
                                            </p:cTn>
                                          </p:par>
                                          <p:par>
                                            <p:cTn id="10" presetID="10" presetClass="entr" presetSubtype="0" fill="hold" grpId="0" nodeType="withEffect">
                                              <p:childTnLst>
                                                <p:animEffect transition="in" filter="fade">
                                                  <p:cBhvr>
                                                    <p:cTn id="11" dur="600"/>
                                                    <p:tgtEl>
                                                      <p:spTgt spid="5"/>
                                                    </p:tgtEl>
                                                  </p:cBhvr>
                                                </p:animEffect>
                                              </p:childTnLst>
                                            </p:cTn>
                                          </p:par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 evt="onClick"/>
                      </p:stCondLst>
                      <p:childTnLst>
                        <p:par>
                          <p:cTn id="13" fill="hold">
                            <p:childTnLst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15" fill="hold">
                                        <p:stCondLst>
                                          <p:cond delay="0"/>
                                        </p:stCondLst>
                                        <p:childTnLst>
                                          <p:par>
                                            <p:cTn id="16" presetID="1" presetClass="entr" presetSubtype="0" fill="hold" grpId="0" nodeType="withEffect">
                                              <p:childTnLst>
                                                <p:set>
                                                  <p:cBhvr>
                                                    <p:cTn id="17" dur="1" fill="hold">
                                                      <p:stCondLst>
                                                        <p:cond delay="0"/>
                                                      </p:stCondLst>
                                                      <p:childTnLst/>
                                                    </p:cTn>
                                                    <p:tgtEl>
                                                      <p:spTgt spid="6"/>
                                                    </p:tgtEl>
                                                    <p:attrNameLst>
                                                      <p:attrName>style.visibility</p:attrName>
                                                    </p:attrNameLst>
                                                  </p:cBhvr>
                                                  <p:to>
                                                    <p:strVal val="visible"/>
                                                  </p:to>
                                                </p:set>
                                              </p:childTnLst>
                                            </p:cTn>
                                          </p:par>
                                          <p:par>
                                            <p:cTn id="18" presetID="10" presetClass="entr" presetSubtype="0" fill="hold" grpId="0" nodeType="withEffect">
                                              <p:childTnLst>
                                                <p:animEffect transition="in" filter="fade">
                                                  <p:cBhvr>
                                                    <p:cTn id="19" dur="600"/>
                                                    <p:tgtEl>
                                                      <p:spTgt spid="6"/>
                                                    </p:tgtEl>
                                                  </p:cBhvr>
                                                </p:animEffect>
                                              </p:childTnLst>
                                            </p:cTn>
                                          </p:par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 evt="onClick"/>
                      </p:stCondLst>
                      <p:childTnLst>
                        <p:par>
                          <p:cTn id="21" fill="hold">
                            <p:childTnLst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23" fill="hold">
                                        <p:stCondLst>
                                          <p:cond delay="0"/>
                                        </p:stCondLst>
                                        <p:childTnLst>
                                          <p:par>
                                            <p:cTn id="24" presetID="1" presetClass="entr" presetSubtype="0" fill="hold" grpId="0" nodeType="withEffect">
                                              <p:childTnLst>
                                                <p:set>
                                                  <p:cBhvr>
                                                    <p:cTn id="25" dur="1" fill="hold">
                                                      <p:stCondLst>
                                                        <p:cond delay="0"/>
                                                      </p:stCondLst>
                                                      <p:childTnLst/>
                                                    </p:cTn>
                                                    <p:tgtEl>
                                                      <p:spTgt spid="7"/>
                                                    </p:tgtEl>
                                                    <p:attrNameLst>
                                                      <p:attrName>style.visibility</p:attrName>
                                                    </p:attrNameLst>
                                                  </p:cBhvr>
                                                  <p:to>
                                                    <p:strVal val="visible"/>
                                                  </p:to>
                                                </p:set>
                                              </p:childTnLst>
                                            </p:cTn>
                                          </p:par>
                                          <p:par>
                                            <p:cTn id="26" presetID="10" presetClass="entr" presetSubtype="0" fill="hold" grpId="0" nodeType="withEffect">
                                              <p:childTnLst>
                                                <p:animEffect transition="in" filter="fade">
                                                  <p:cBhvr>
                                                    <p:cTn id="27" dur="600"/>
                                                    <p:tgtEl>
                                                      <p:spTgt spid="7"/>
                                                    </p:tgtEl>
                                                  </p:cBhvr>
                                                </p:animEffect>
                                              </p:childTnLst>
                                            </p:cTn>
                                          </p:par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Click" delay="0">
                  <p:tgtEl>
                    <p:sldTgt/>
                  </p:tgtEl>
                </p:cond>
              </p:prevCondLst>
              <p:nextCondLst>
                <p:cond evt="onClick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</p:bld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4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106424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6B4226"/>
                </a:solidFill>
                <a:latin typeface="Trebuchet MS"/>
              </a:rPr>
              <a:t>How His Qualities Shaped the House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66928" y="932688"/>
            <a:ext cx="1463040" cy="64008"/>
          </a:xfrm>
          <a:prstGeom prst="roundRect">
            <a:avLst/>
          </a:prstGeom>
          <a:solidFill>
            <a:srgbClr val="E3A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8A7A66"/>
                </a:solidFill>
                <a:latin typeface="Trebuchet MS"/>
              </a:rPr>
              <a:t>Grizzly — The Clay House</a:t>
            </a:r>
          </a:p>
        </p:txBody>
      </p:sp>
      <p:pic>
        <p:nvPicPr>
          <p:cNvPr id="5" name="Picture 4" descr="final-shelter-sketch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194988"/>
            <a:ext cx="3977639" cy="292522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1371600"/>
            <a:ext cx="681228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6B4226"/>
                </a:solidFill>
                <a:latin typeface="Trebuchet MS"/>
              </a:rPr>
              <a:t>Curiosity</a:t>
            </a:r>
            <a:r>
              <a:rPr sz="1700" b="0" i="0">
                <a:solidFill>
                  <a:srgbClr val="3E2A1A"/>
                </a:solidFill>
                <a:latin typeface="Trebuchet MS"/>
              </a:rPr>
              <a:t>  :  the window, in blue colour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176272"/>
            <a:ext cx="681228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6B4226"/>
                </a:solidFill>
                <a:latin typeface="Trebuchet MS"/>
              </a:rPr>
              <a:t>Naturist</a:t>
            </a:r>
            <a:r>
              <a:rPr sz="1700" b="0" i="0">
                <a:solidFill>
                  <a:srgbClr val="3E2A1A"/>
                </a:solidFill>
                <a:latin typeface="Trebuchet MS"/>
              </a:rPr>
              <a:t>  :  the green base and the plants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980944"/>
            <a:ext cx="681228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6B4226"/>
                </a:solidFill>
                <a:latin typeface="Trebuchet MS"/>
              </a:rPr>
              <a:t>Brave</a:t>
            </a:r>
            <a:r>
              <a:rPr sz="1700" b="0" i="0">
                <a:solidFill>
                  <a:srgbClr val="3E2A1A"/>
                </a:solidFill>
                <a:latin typeface="Trebuchet MS"/>
              </a:rPr>
              <a:t>  :  the strong cubic structure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785616"/>
            <a:ext cx="681228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6B4226"/>
                </a:solidFill>
                <a:latin typeface="Trebuchet MS"/>
              </a:rPr>
              <a:t>Foody</a:t>
            </a:r>
            <a:r>
              <a:rPr sz="1700" b="0" i="0">
                <a:solidFill>
                  <a:srgbClr val="3E2A1A"/>
                </a:solidFill>
                <a:latin typeface="Trebuchet MS"/>
              </a:rPr>
              <a:t>  :  the honey pot on the roof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590288"/>
            <a:ext cx="681228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6B4226"/>
                </a:solidFill>
                <a:latin typeface="Trebuchet MS"/>
              </a:rPr>
              <a:t>Attention seeker</a:t>
            </a:r>
            <a:r>
              <a:rPr sz="1700" b="0" i="0">
                <a:solidFill>
                  <a:srgbClr val="3E2A1A"/>
                </a:solidFill>
                <a:latin typeface="Trebuchet MS"/>
              </a:rPr>
              <a:t>  :  the bear face entrance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5394960"/>
            <a:ext cx="681228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6B4226"/>
                </a:solidFill>
                <a:latin typeface="Trebuchet MS"/>
              </a:rPr>
              <a:t>Friendly</a:t>
            </a:r>
            <a:r>
              <a:rPr sz="1700" b="0" i="0">
                <a:solidFill>
                  <a:srgbClr val="3E2A1A"/>
                </a:solidFill>
                <a:latin typeface="Trebuchet MS"/>
              </a:rPr>
              <a:t>  :  the open, welcoming entrance</a:t>
            </a:r>
          </a:p>
        </p:txBody>
      </p:sp>
    </p:spTree>
  </p:cSld>
  <p:clrMapOvr>
    <a:masterClrMapping/>
  </p:clrMapOvr>
  <p:timing>
    <p:tnLst>
      <p:par>
        <p:cTn id="2" dur="indefinite" restart="never" nodeType="tmRoot">
          <p:childTnLst>
            <p:seq concurrent="1" nextAc="seek">
              <p:cTn id="3" dur="indefinite" nodeType="mainSeq">
                <p:childTnLst>
                  <p:par>
                    <p:cTn id="4" fill="hold">
                      <p:stCondLst>
                        <p:cond delay="indefinite" evt="onClick"/>
                      </p:stCondLst>
                      <p:childTnLst>
                        <p:par>
                          <p:cTn id="5" fill="hold">
                            <p:childTnLst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7" fill="hold">
                                        <p:stCondLst>
                                          <p:cond delay="0"/>
                                        </p:stCondLst>
                                        <p:childTnLst>
                                          <p:par>
                                            <p:cTn id="8" presetID="1" presetClass="entr" presetSubtype="0" fill="hold" grpId="0" nodeType="withEffect">
                                              <p:childTnLst>
                                                <p:set>
                                                  <p:cBhvr>
                                                    <p:cTn id="9" dur="1" fill="hold">
                                                      <p:stCondLst>
                                                        <p:cond delay="0"/>
                                                      </p:stCondLst>
                                                      <p:childTnLst/>
                                                    </p:cTn>
                                                    <p:tgtEl>
                                                      <p:spTgt spid="5"/>
                                                    </p:tgtEl>
                                                    <p:attrNameLst>
                                                      <p:attrName>style.visibility</p:attrName>
                                                    </p:attrNameLst>
                                                  </p:cBhvr>
                                                  <p:to>
                                                    <p:strVal val="visible"/>
                                                  </p:to>
                                                </p:set>
                                              </p:childTnLst>
                                            </p:cTn>
                                          </p:par>
                                          <p:par>
                                            <p:cTn id="10" presetID="10" presetClass="entr" presetSubtype="0" fill="hold" grpId="0" nodeType="withEffect">
                                              <p:childTnLst>
                                                <p:animEffect transition="in" filter="fade">
                                                  <p:cBhvr>
                                                    <p:cTn id="11" dur="600"/>
                                                    <p:tgtEl>
                                                      <p:spTgt spid="5"/>
                                                    </p:tgtEl>
                                                  </p:cBhvr>
                                                </p:animEffect>
                                              </p:childTnLst>
                                            </p:cTn>
                                          </p:par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 evt="onClick"/>
                      </p:stCondLst>
                      <p:childTnLst>
                        <p:par>
                          <p:cTn id="13" fill="hold">
                            <p:childTnLst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15" fill="hold">
                                        <p:stCondLst>
                                          <p:cond delay="0"/>
                                        </p:stCondLst>
                                        <p:childTnLst>
                                          <p:par>
                                            <p:cTn id="16" presetID="1" presetClass="entr" presetSubtype="0" fill="hold" grpId="0" nodeType="withEffect">
                                              <p:childTnLst>
                                                <p:set>
                                                  <p:cBhvr>
                                                    <p:cTn id="17" dur="1" fill="hold">
                                                      <p:stCondLst>
                                                        <p:cond delay="0"/>
                                                      </p:stCondLst>
                                                      <p:childTnLst/>
                                                    </p:cTn>
                                                    <p:tgtEl>
                                                      <p:spTgt spid="6"/>
                                                    </p:tgtEl>
                                                    <p:attrNameLst>
                                                      <p:attrName>style.visibility</p:attrName>
                                                    </p:attrNameLst>
                                                  </p:cBhvr>
                                                  <p:to>
                                                    <p:strVal val="visible"/>
                                                  </p:to>
                                                </p:set>
                                              </p:childTnLst>
                                            </p:cTn>
                                          </p:par>
                                          <p:par>
                                            <p:cTn id="18" presetID="10" presetClass="entr" presetSubtype="0" fill="hold" grpId="0" nodeType="withEffect">
                                              <p:childTnLst>
                                                <p:animEffect transition="in" filter="fade">
                                                  <p:cBhvr>
                                                    <p:cTn id="19" dur="600"/>
                                                    <p:tgtEl>
                                                      <p:spTgt spid="6"/>
                                                    </p:tgtEl>
                                                  </p:cBhvr>
                                                </p:animEffect>
                                              </p:childTnLst>
                                            </p:cTn>
                                          </p:par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 evt="onClick"/>
                      </p:stCondLst>
                      <p:childTnLst>
                        <p:par>
                          <p:cTn id="21" fill="hold">
                            <p:childTnLst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23" fill="hold">
                                        <p:stCondLst>
                                          <p:cond delay="0"/>
                                        </p:stCondLst>
                                        <p:childTnLst>
                                          <p:par>
                                            <p:cTn id="24" presetID="1" presetClass="entr" presetSubtype="0" fill="hold" grpId="0" nodeType="withEffect">
                                              <p:childTnLst>
                                                <p:set>
                                                  <p:cBhvr>
                                                    <p:cTn id="25" dur="1" fill="hold">
                                                      <p:stCondLst>
                                                        <p:cond delay="0"/>
                                                      </p:stCondLst>
                                                      <p:childTnLst/>
                                                    </p:cTn>
                                                    <p:tgtEl>
                                                      <p:spTgt spid="7"/>
                                                    </p:tgtEl>
                                                    <p:attrNameLst>
                                                      <p:attrName>style.visibility</p:attrName>
                                                    </p:attrNameLst>
                                                  </p:cBhvr>
                                                  <p:to>
                                                    <p:strVal val="visible"/>
                                                  </p:to>
                                                </p:set>
                                              </p:childTnLst>
                                            </p:cTn>
                                          </p:par>
                                          <p:par>
                                            <p:cTn id="26" presetID="10" presetClass="entr" presetSubtype="0" fill="hold" grpId="0" nodeType="withEffect">
                                              <p:childTnLst>
                                                <p:animEffect transition="in" filter="fade">
                                                  <p:cBhvr>
                                                    <p:cTn id="27" dur="600"/>
                                                    <p:tgtEl>
                                                      <p:spTgt spid="7"/>
                                                    </p:tgtEl>
                                                  </p:cBhvr>
                                                </p:animEffect>
                                              </p:childTnLst>
                                            </p:cTn>
                                          </p:par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 evt="onClick"/>
                      </p:stCondLst>
                      <p:childTnLst>
                        <p:par>
                          <p:cTn id="29" fill="hold">
                            <p:childTnLst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31" fill="hold">
                                        <p:stCondLst>
                                          <p:cond delay="0"/>
                                        </p:stCondLst>
                                        <p:childTnLst>
                                          <p:par>
                                            <p:cTn id="32" presetID="1" presetClass="entr" presetSubtype="0" fill="hold" grpId="0" nodeType="withEffect">
                                              <p:childTnLst>
                                                <p:set>
                                                  <p:cBhvr>
                                                    <p:cTn id="33" dur="1" fill="hold">
                                                      <p:stCondLst>
                                                        <p:cond delay="0"/>
                                                      </p:stCondLst>
                                                      <p:childTnLst/>
                                                    </p:cTn>
                                                    <p:tgtEl>
                                                      <p:spTgt spid="8"/>
                                                    </p:tgtEl>
                                                    <p:attrNameLst>
                                                      <p:attrName>style.visibility</p:attrName>
                                                    </p:attrNameLst>
                                                  </p:cBhvr>
                                                  <p:to>
                                                    <p:strVal val="visible"/>
                                                  </p:to>
                                                </p:set>
                                              </p:childTnLst>
                                            </p:cTn>
                                          </p:par>
                                          <p:par>
                                            <p:cTn id="34" presetID="10" presetClass="entr" presetSubtype="0" fill="hold" grpId="0" nodeType="withEffect">
                                              <p:childTnLst>
                                                <p:animEffect transition="in" filter="fade">
                                                  <p:cBhvr>
                                                    <p:cTn id="35" dur="600"/>
                                                    <p:tgtEl>
                                                      <p:spTgt spid="8"/>
                                                    </p:tgtEl>
                                                  </p:cBhvr>
                                                </p:animEffect>
                                              </p:childTnLst>
                                            </p:cTn>
                                          </p:par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 evt="onClick"/>
                      </p:stCondLst>
                      <p:childTnLst>
                        <p:par>
                          <p:cTn id="37" fill="hold">
                            <p:childTnLst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39" fill="hold">
                                        <p:stCondLst>
                                          <p:cond delay="0"/>
                                        </p:stCondLst>
                                        <p:childTnLst>
                                          <p:par>
                                            <p:cTn id="40" presetID="1" presetClass="entr" presetSubtype="0" fill="hold" grpId="0" nodeType="withEffect">
                                              <p:childTnLst>
                                                <p:set>
                                                  <p:cBhvr>
                                                    <p:cTn id="41" dur="1" fill="hold">
                                                      <p:stCondLst>
                                                        <p:cond delay="0"/>
                                                      </p:stCondLst>
                                                      <p:childTnLst/>
                                                    </p:cTn>
                                                    <p:tgtEl>
                                                      <p:spTgt spid="9"/>
                                                    </p:tgtEl>
                                                    <p:attrNameLst>
                                                      <p:attrName>style.visibility</p:attrName>
                                                    </p:attrNameLst>
                                                  </p:cBhvr>
                                                  <p:to>
                                                    <p:strVal val="visible"/>
                                                  </p:to>
                                                </p:set>
                                              </p:childTnLst>
                                            </p:cTn>
                                          </p:par>
                                          <p:par>
                                            <p:cTn id="42" presetID="10" presetClass="entr" presetSubtype="0" fill="hold" grpId="0" nodeType="withEffect">
                                              <p:childTnLst>
                                                <p:animEffect transition="in" filter="fade">
                                                  <p:cBhvr>
                                                    <p:cTn id="43" dur="600"/>
                                                    <p:tgtEl>
                                                      <p:spTgt spid="9"/>
                                                    </p:tgtEl>
                                                  </p:cBhvr>
                                                </p:animEffect>
                                              </p:childTnLst>
                                            </p:cTn>
                                          </p:par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 evt="onClick"/>
                      </p:stCondLst>
                      <p:childTnLst>
                        <p:par>
                          <p:cTn id="45" fill="hold">
                            <p:childTnLst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47" fill="hold">
                                        <p:stCondLst>
                                          <p:cond delay="0"/>
                                        </p:stCondLst>
                                        <p:childTnLst>
                                          <p:par>
                                            <p:cTn id="48" presetID="1" presetClass="entr" presetSubtype="0" fill="hold" grpId="0" nodeType="withEffect">
                                              <p:childTnLst>
                                                <p:set>
                                                  <p:cBhvr>
                                                    <p:cTn id="49" dur="1" fill="hold">
                                                      <p:stCondLst>
                                                        <p:cond delay="0"/>
                                                      </p:stCondLst>
                                                      <p:childTnLst/>
                                                    </p:cTn>
                                                    <p:tgtEl>
                                                      <p:spTgt spid="10"/>
                                                    </p:tgtEl>
                                                    <p:attrNameLst>
                                                      <p:attrName>style.visibility</p:attrName>
                                                    </p:attrNameLst>
                                                  </p:cBhvr>
                                                  <p:to>
                                                    <p:strVal val="visible"/>
                                                  </p:to>
                                                </p:set>
                                              </p:childTnLst>
                                            </p:cTn>
                                          </p:par>
                                          <p:par>
                                            <p:cTn id="50" presetID="10" presetClass="entr" presetSubtype="0" fill="hold" grpId="0" nodeType="withEffect">
                                              <p:childTnLst>
                                                <p:animEffect transition="in" filter="fade">
                                                  <p:cBhvr>
                                                    <p:cTn id="51" dur="600"/>
                                                    <p:tgtEl>
                                                      <p:spTgt spid="10"/>
                                                    </p:tgtEl>
                                                  </p:cBhvr>
                                                </p:animEffect>
                                              </p:childTnLst>
                                            </p:cTn>
                                          </p:par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 evt="onClick"/>
                      </p:stCondLst>
                      <p:childTnLst>
                        <p:par>
                          <p:cTn id="53" fill="hold">
                            <p:childTnLst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55" fill="hold">
                                        <p:stCondLst>
                                          <p:cond delay="0"/>
                                        </p:stCondLst>
                                        <p:childTnLst>
                                          <p:par>
                                            <p:cTn id="56" presetID="1" presetClass="entr" presetSubtype="0" fill="hold" grpId="0" nodeType="withEffect">
                                              <p:childTnLst>
                                                <p:set>
                                                  <p:cBhvr>
                                                    <p:cTn id="57" dur="1" fill="hold">
                                                      <p:stCondLst>
                                                        <p:cond delay="0"/>
                                                      </p:stCondLst>
                                                      <p:childTnLst/>
                                                    </p:cTn>
                                                    <p:tgtEl>
                                                      <p:spTgt spid="11"/>
                                                    </p:tgtEl>
                                                    <p:attrNameLst>
                                                      <p:attrName>style.visibility</p:attrName>
                                                    </p:attrNameLst>
                                                  </p:cBhvr>
                                                  <p:to>
                                                    <p:strVal val="visible"/>
                                                  </p:to>
                                                </p:set>
                                              </p:childTnLst>
                                            </p:cTn>
                                          </p:par>
                                          <p:par>
                                            <p:cTn id="58" presetID="10" presetClass="entr" presetSubtype="0" fill="hold" grpId="0" nodeType="withEffect">
                                              <p:childTnLst>
                                                <p:animEffect transition="in" filter="fade">
                                                  <p:cBhvr>
                                                    <p:cTn id="59" dur="600"/>
                                                    <p:tgtEl>
                                                      <p:spTgt spid="11"/>
                                                    </p:tgtEl>
                                                  </p:cBhvr>
                                                </p:animEffect>
                                              </p:childTnLst>
                                            </p:cTn>
                                          </p:par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Click" delay="0">
                  <p:tgtEl>
                    <p:sldTgt/>
                  </p:tgtEl>
                </p:cond>
              </p:prevCondLst>
              <p:nextCondLst>
                <p:cond evt="onClick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  <p:bldP spid="8" grpId="0"/>
      <p:bldP spid="9" grpId="0"/>
      <p:bldP spid="10" grpId="0"/>
      <p:bldP spid="11" grpId="0"/>
    </p:bld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4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106424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6B4226"/>
                </a:solidFill>
                <a:latin typeface="Trebuchet MS"/>
              </a:rPr>
              <a:t>The Final House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66928" y="932688"/>
            <a:ext cx="1463040" cy="64008"/>
          </a:xfrm>
          <a:prstGeom prst="roundRect">
            <a:avLst/>
          </a:prstGeom>
          <a:solidFill>
            <a:srgbClr val="E3A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42415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8A7A66"/>
                </a:solidFill>
                <a:latin typeface="Trebuchet MS"/>
              </a:rPr>
              <a:t>Grizzly's shelter, finished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8A7A66"/>
                </a:solidFill>
                <a:latin typeface="Trebuchet MS"/>
              </a:rPr>
              <a:t>Grizzly — The Clay House</a:t>
            </a:r>
          </a:p>
        </p:txBody>
      </p:sp>
      <p:pic>
        <p:nvPicPr>
          <p:cNvPr id="6" name="Picture 5" descr="final-1-angle-view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390" y="1554480"/>
            <a:ext cx="2948940" cy="39319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5577840"/>
            <a:ext cx="35204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6B4226"/>
                </a:solidFill>
                <a:latin typeface="Trebuchet MS"/>
              </a:rPr>
              <a:t>Angle view</a:t>
            </a:r>
          </a:p>
        </p:txBody>
      </p:sp>
      <p:pic>
        <p:nvPicPr>
          <p:cNvPr id="8" name="Picture 7" descr="final-2-front-view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29150" y="1554480"/>
            <a:ext cx="2948940" cy="39319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343400" y="5577840"/>
            <a:ext cx="35204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6B4226"/>
                </a:solidFill>
                <a:latin typeface="Trebuchet MS"/>
              </a:rPr>
              <a:t>Front view</a:t>
            </a:r>
          </a:p>
        </p:txBody>
      </p:sp>
      <p:pic>
        <p:nvPicPr>
          <p:cNvPr id="10" name="Picture 9" descr="final-3-side-view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23910" y="1554480"/>
            <a:ext cx="2948940" cy="39319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138160" y="5577840"/>
            <a:ext cx="35204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6B4226"/>
                </a:solidFill>
                <a:latin typeface="Trebuchet MS"/>
              </a:rPr>
              <a:t>Side view</a:t>
            </a:r>
          </a:p>
        </p:txBody>
      </p:sp>
    </p:spTree>
  </p:cSld>
  <p:clrMapOvr>
    <a:masterClrMapping/>
  </p:clrMapOvr>
  <p:timing>
    <p:tnLst>
      <p:par>
        <p:cTn id="2" dur="indefinite" restart="never" nodeType="tmRoot">
          <p:childTnLst>
            <p:seq concurrent="1" nextAc="seek">
              <p:cTn id="3" dur="indefinite" nodeType="mainSeq">
                <p:childTnLst>
                  <p:par>
                    <p:cTn id="4" fill="hold">
                      <p:stCondLst>
                        <p:cond delay="indefinite" evt="onClick"/>
                      </p:stCondLst>
                      <p:childTnLst>
                        <p:par>
                          <p:cTn id="5" fill="hold">
                            <p:childTnLst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7" fill="hold">
                                        <p:stCondLst>
                                          <p:cond delay="0"/>
                                        </p:stCondLst>
                                        <p:childTnLst>
                                          <p:par>
                                            <p:cTn id="8" presetID="1" presetClass="entr" presetSubtype="0" fill="hold" grpId="0" nodeType="withEffect">
                                              <p:childTnLst>
                                                <p:set>
                                                  <p:cBhvr>
                                                    <p:cTn id="9" dur="1" fill="hold">
                                                      <p:stCondLst>
                                                        <p:cond delay="0"/>
                                                      </p:stCondLst>
                                                      <p:childTnLst/>
                                                    </p:cTn>
                                                    <p:tgtEl>
                                                      <p:spTgt spid="6"/>
                                                    </p:tgtEl>
                                                    <p:attrNameLst>
                                                      <p:attrName>style.visibility</p:attrName>
                                                    </p:attrNameLst>
                                                  </p:cBhvr>
                                                  <p:to>
                                                    <p:strVal val="visible"/>
                                                  </p:to>
                                                </p:set>
                                              </p:childTnLst>
                                            </p:cTn>
                                          </p:par>
                                          <p:par>
                                            <p:cTn id="10" presetID="10" presetClass="entr" presetSubtype="0" fill="hold" grpId="0" nodeType="withEffect">
                                              <p:childTnLst>
                                                <p:animEffect transition="in" filter="fade">
                                                  <p:cBhvr>
                                                    <p:cTn id="11" dur="600"/>
                                                    <p:tgtEl>
                                                      <p:spTgt spid="6"/>
                                                    </p:tgtEl>
                                                  </p:cBhvr>
                                                </p:animEffect>
                                              </p:childTnLst>
                                            </p:cTn>
                                          </p:par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13" fill="hold">
                                        <p:stCondLst>
                                          <p:cond delay="0"/>
                                        </p:stCondLst>
                                        <p:childTnLst>
                                          <p:par>
                                            <p:cTn id="14" presetID="1" presetClass="entr" presetSubtype="0" fill="hold" grpId="0" nodeType="withEffect">
                                              <p:childTnLst>
                                                <p:set>
                                                  <p:cBhvr>
                                                    <p:cTn id="15" dur="1" fill="hold">
                                                      <p:stCondLst>
                                                        <p:cond delay="0"/>
                                                      </p:stCondLst>
                                                      <p:childTnLst/>
                                                    </p:cTn>
                                                    <p:tgtEl>
                                                      <p:spTgt spid="7"/>
                                                    </p:tgtEl>
                                                    <p:attrNameLst>
                                                      <p:attrName>style.visibility</p:attrName>
                                                    </p:attrNameLst>
                                                  </p:cBhvr>
                                                  <p:to>
                                                    <p:strVal val="visible"/>
                                                  </p:to>
                                                </p:set>
                                              </p:childTnLst>
                                            </p:cTn>
                                          </p:par>
                                          <p:par>
                                            <p:cTn id="16" presetID="10" presetClass="entr" presetSubtype="0" fill="hold" grpId="0" nodeType="withEffect">
                                              <p:childTnLst>
                                                <p:animEffect transition="in" filter="fade">
                                                  <p:cBhvr>
                                                    <p:cTn id="17" dur="600"/>
                                                    <p:tgtEl>
                                                      <p:spTgt spid="7"/>
                                                    </p:tgtEl>
                                                  </p:cBhvr>
                                                </p:animEffect>
                                              </p:childTnLst>
                                            </p:cTn>
                                          </p:par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 evt="onClick"/>
                      </p:stCondLst>
                      <p:childTnLst>
                        <p:par>
                          <p:cTn id="19" fill="hold">
                            <p:childTnLst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21" fill="hold">
                                        <p:stCondLst>
                                          <p:cond delay="0"/>
                                        </p:stCondLst>
                                        <p:childTnLst>
                                          <p:par>
                                            <p:cTn id="22" presetID="1" presetClass="entr" presetSubtype="0" fill="hold" grpId="0" nodeType="withEffect">
                                              <p:childTnLst>
                                                <p:set>
                                                  <p:cBhvr>
                                                    <p:cTn id="23" dur="1" fill="hold">
                                                      <p:stCondLst>
                                                        <p:cond delay="0"/>
                                                      </p:stCondLst>
                                                      <p:childTnLst/>
                                                    </p:cTn>
                                                    <p:tgtEl>
                                                      <p:spTgt spid="8"/>
                                                    </p:tgtEl>
                                                    <p:attrNameLst>
                                                      <p:attrName>style.visibility</p:attrName>
                                                    </p:attrNameLst>
                                                  </p:cBhvr>
                                                  <p:to>
                                                    <p:strVal val="visible"/>
                                                  </p:to>
                                                </p:set>
                                              </p:childTnLst>
                                            </p:cTn>
                                          </p:par>
                                          <p:par>
                                            <p:cTn id="24" presetID="10" presetClass="entr" presetSubtype="0" fill="hold" grpId="0" nodeType="withEffect">
                                              <p:childTnLst>
                                                <p:animEffect transition="in" filter="fade">
                                                  <p:cBhvr>
                                                    <p:cTn id="25" dur="600"/>
                                                    <p:tgtEl>
                                                      <p:spTgt spid="8"/>
                                                    </p:tgtEl>
                                                  </p:cBhvr>
                                                </p:animEffect>
                                              </p:childTnLst>
                                            </p:cTn>
                                          </p:par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27" fill="hold">
                                        <p:stCondLst>
                                          <p:cond delay="0"/>
                                        </p:stCondLst>
                                        <p:childTnLst>
                                          <p:par>
                                            <p:cTn id="28" presetID="1" presetClass="entr" presetSubtype="0" fill="hold" grpId="0" nodeType="withEffect">
                                              <p:childTnLst>
                                                <p:set>
                                                  <p:cBhvr>
                                                    <p:cTn id="29" dur="1" fill="hold">
                                                      <p:stCondLst>
                                                        <p:cond delay="0"/>
                                                      </p:stCondLst>
                                                      <p:childTnLst/>
                                                    </p:cTn>
                                                    <p:tgtEl>
                                                      <p:spTgt spid="9"/>
                                                    </p:tgtEl>
                                                    <p:attrNameLst>
                                                      <p:attrName>style.visibility</p:attrName>
                                                    </p:attrNameLst>
                                                  </p:cBhvr>
                                                  <p:to>
                                                    <p:strVal val="visible"/>
                                                  </p:to>
                                                </p:set>
                                              </p:childTnLst>
                                            </p:cTn>
                                          </p:par>
                                          <p:par>
                                            <p:cTn id="30" presetID="10" presetClass="entr" presetSubtype="0" fill="hold" grpId="0" nodeType="withEffect">
                                              <p:childTnLst>
                                                <p:animEffect transition="in" filter="fade">
                                                  <p:cBhvr>
                                                    <p:cTn id="31" dur="600"/>
                                                    <p:tgtEl>
                                                      <p:spTgt spid="9"/>
                                                    </p:tgtEl>
                                                  </p:cBhvr>
                                                </p:animEffect>
                                              </p:childTnLst>
                                            </p:cTn>
                                          </p:par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 evt="onClick"/>
                      </p:stCondLst>
                      <p:childTnLst>
                        <p:par>
                          <p:cTn id="33" fill="hold">
                            <p:childTnLst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35" fill="hold">
                                        <p:stCondLst>
                                          <p:cond delay="0"/>
                                        </p:stCondLst>
                                        <p:childTnLst>
                                          <p:par>
                                            <p:cTn id="36" presetID="1" presetClass="entr" presetSubtype="0" fill="hold" grpId="0" nodeType="withEffect">
                                              <p:childTnLst>
                                                <p:set>
                                                  <p:cBhvr>
                                                    <p:cTn id="37" dur="1" fill="hold">
                                                      <p:stCondLst>
                                                        <p:cond delay="0"/>
                                                      </p:stCondLst>
                                                      <p:childTnLst/>
                                                    </p:cTn>
                                                    <p:tgtEl>
                                                      <p:spTgt spid="10"/>
                                                    </p:tgtEl>
                                                    <p:attrNameLst>
                                                      <p:attrName>style.visibility</p:attrName>
                                                    </p:attrNameLst>
                                                  </p:cBhvr>
                                                  <p:to>
                                                    <p:strVal val="visible"/>
                                                  </p:to>
                                                </p:set>
                                              </p:childTnLst>
                                            </p:cTn>
                                          </p:par>
                                          <p:par>
                                            <p:cTn id="38" presetID="10" presetClass="entr" presetSubtype="0" fill="hold" grpId="0" nodeType="withEffect">
                                              <p:childTnLst>
                                                <p:animEffect transition="in" filter="fade">
                                                  <p:cBhvr>
                                                    <p:cTn id="39" dur="600"/>
                                                    <p:tgtEl>
                                                      <p:spTgt spid="10"/>
                                                    </p:tgtEl>
                                                  </p:cBhvr>
                                                </p:animEffect>
                                              </p:childTnLst>
                                            </p:cTn>
                                          </p:par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41" fill="hold">
                                        <p:stCondLst>
                                          <p:cond delay="0"/>
                                        </p:stCondLst>
                                        <p:childTnLst>
                                          <p:par>
                                            <p:cTn id="42" presetID="1" presetClass="entr" presetSubtype="0" fill="hold" grpId="0" nodeType="withEffect">
                                              <p:childTnLst>
                                                <p:set>
                                                  <p:cBhvr>
                                                    <p:cTn id="43" dur="1" fill="hold">
                                                      <p:stCondLst>
                                                        <p:cond delay="0"/>
                                                      </p:stCondLst>
                                                      <p:childTnLst/>
                                                    </p:cTn>
                                                    <p:tgtEl>
                                                      <p:spTgt spid="11"/>
                                                    </p:tgtEl>
                                                    <p:attrNameLst>
                                                      <p:attrName>style.visibility</p:attrName>
                                                    </p:attrNameLst>
                                                  </p:cBhvr>
                                                  <p:to>
                                                    <p:strVal val="visible"/>
                                                  </p:to>
                                                </p:set>
                                              </p:childTnLst>
                                            </p:cTn>
                                          </p:par>
                                          <p:par>
                                            <p:cTn id="44" presetID="10" presetClass="entr" presetSubtype="0" fill="hold" grpId="0" nodeType="withEffect">
                                              <p:childTnLst>
                                                <p:animEffect transition="in" filter="fade">
                                                  <p:cBhvr>
                                                    <p:cTn id="45" dur="600"/>
                                                    <p:tgtEl>
                                                      <p:spTgt spid="11"/>
                                                    </p:tgtEl>
                                                  </p:cBhvr>
                                                </p:animEffect>
                                              </p:childTnLst>
                                            </p:cTn>
                                          </p:par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Click" delay="0">
                  <p:tgtEl>
                    <p:sldTgt/>
                  </p:tgtEl>
                </p:cond>
              </p:prevCondLst>
              <p:nextCondLst>
                <p:cond evt="onClick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  <p:bldP spid="8" grpId="0"/>
      <p:bldP spid="9" grpId="0"/>
      <p:bldP spid="10" grpId="0"/>
      <p:bldP spid="11" grpId="0"/>
    </p:bld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4E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grizzly-be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38928" y="676558"/>
            <a:ext cx="1920240" cy="157296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011680" y="2697480"/>
            <a:ext cx="8165592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200" b="1" i="0">
                <a:solidFill>
                  <a:srgbClr val="6B4226"/>
                </a:solidFill>
                <a:latin typeface="Trebuchet MS"/>
              </a:rPr>
              <a:t>The 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11680" y="3657600"/>
            <a:ext cx="8165592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750" b="0" i="0">
                <a:solidFill>
                  <a:srgbClr val="3E2A1A"/>
                </a:solidFill>
                <a:latin typeface="Trebuchet MS"/>
              </a:rPr>
              <a:t>And so Grizzly got a home as brave, warm and full of love as he is, built by hand, one cube at a time.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4892040"/>
            <a:ext cx="8165592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1" i="0">
                <a:solidFill>
                  <a:srgbClr val="E3A72F"/>
                </a:solidFill>
                <a:latin typeface="Trebuchet MS"/>
              </a:rPr>
              <a:t>Thank You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5486400"/>
            <a:ext cx="816559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 i="0">
                <a:solidFill>
                  <a:srgbClr val="8A7A66"/>
                </a:solidFill>
                <a:latin typeface="Trebuchet MS"/>
              </a:rPr>
              <a:t>Presentation by Arooj Fatima</a:t>
            </a:r>
          </a:p>
        </p:txBody>
      </p:sp>
    </p:spTree>
  </p:cSld>
  <p:clrMapOvr>
    <a:masterClrMapping/>
  </p:clrMapOvr>
  <p:timing>
    <p:tnLst>
      <p:par>
        <p:cTn id="2" dur="indefinite" restart="never" nodeType="tmRoot">
          <p:childTnLst>
            <p:seq concurrent="1" nextAc="seek">
              <p:cTn id="3" dur="indefinite" nodeType="mainSeq">
                <p:childTnLst>
                  <p:par>
                    <p:cTn id="4" fill="hold">
                      <p:stCondLst>
                        <p:cond delay="indefinite" evt="onClick"/>
                      </p:stCondLst>
                      <p:childTnLst>
                        <p:par>
                          <p:cTn id="5" fill="hold">
                            <p:childTnLst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7" fill="hold">
                                        <p:stCondLst>
                                          <p:cond delay="0"/>
                                        </p:stCondLst>
                                        <p:childTnLst>
                                          <p:par>
                                            <p:cTn id="8" presetID="1" presetClass="entr" presetSubtype="0" fill="hold" grpId="0" nodeType="withEffect">
                                              <p:childTnLst>
                                                <p:set>
                                                  <p:cBhvr>
                                                    <p:cTn id="9" dur="1" fill="hold">
                                                      <p:stCondLst>
                                                        <p:cond delay="0"/>
                                                      </p:stCondLst>
                                                      <p:childTnLst/>
                                                    </p:cTn>
                                                    <p:tgtEl>
                                                      <p:spTgt spid="2"/>
                                                    </p:tgtEl>
                                                    <p:attrNameLst>
                                                      <p:attrName>style.visibility</p:attrName>
                                                    </p:attrNameLst>
                                                  </p:cBhvr>
                                                  <p:to>
                                                    <p:strVal val="visible"/>
                                                  </p:to>
                                                </p:set>
                                              </p:childTnLst>
                                            </p:cTn>
                                          </p:par>
                                          <p:par>
                                            <p:cTn id="10" presetID="10" presetClass="entr" presetSubtype="0" fill="hold" grpId="0" nodeType="withEffect">
                                              <p:childTnLst>
                                                <p:animEffect transition="in" filter="fade">
                                                  <p:cBhvr>
                                                    <p:cTn id="11" dur="600"/>
                                                    <p:tgtEl>
                                                      <p:spTgt spid="2"/>
                                                    </p:tgtEl>
                                                  </p:cBhvr>
                                                </p:animEffect>
                                              </p:childTnLst>
                                            </p:cTn>
                                          </p:par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 evt="onClick"/>
                      </p:stCondLst>
                      <p:childTnLst>
                        <p:par>
                          <p:cTn id="13" fill="hold">
                            <p:childTnLst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15" fill="hold">
                                        <p:stCondLst>
                                          <p:cond delay="0"/>
                                        </p:stCondLst>
                                        <p:childTnLst>
                                          <p:par>
                                            <p:cTn id="16" presetID="1" presetClass="entr" presetSubtype="0" fill="hold" grpId="0" nodeType="withEffect">
                                              <p:childTnLst>
                                                <p:set>
                                                  <p:cBhvr>
                                                    <p:cTn id="17" dur="1" fill="hold">
                                                      <p:stCondLst>
                                                        <p:cond delay="0"/>
                                                      </p:stCondLst>
                                                      <p:childTnLst/>
                                                    </p:cTn>
                                                    <p:tgtEl>
                                                      <p:spTgt spid="3"/>
                                                    </p:tgtEl>
                                                    <p:attrNameLst>
                                                      <p:attrName>style.visibility</p:attrName>
                                                    </p:attrNameLst>
                                                  </p:cBhvr>
                                                  <p:to>
                                                    <p:strVal val="visible"/>
                                                  </p:to>
                                                </p:set>
                                              </p:childTnLst>
                                            </p:cTn>
                                          </p:par>
                                          <p:par>
                                            <p:cTn id="18" presetID="10" presetClass="entr" presetSubtype="0" fill="hold" grpId="0" nodeType="withEffect">
                                              <p:childTnLst>
                                                <p:animEffect transition="in" filter="fade">
                                                  <p:cBhvr>
                                                    <p:cTn id="19" dur="600"/>
                                                    <p:tgtEl>
                                                      <p:spTgt spid="3"/>
                                                    </p:tgtEl>
                                                  </p:cBhvr>
                                                </p:animEffect>
                                              </p:childTnLst>
                                            </p:cTn>
                                          </p:par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21" fill="hold">
                                        <p:stCondLst>
                                          <p:cond delay="0"/>
                                        </p:stCondLst>
                                        <p:childTnLst>
                                          <p:par>
                                            <p:cTn id="22" presetID="1" presetClass="entr" presetSubtype="0" fill="hold" grpId="0" nodeType="withEffect">
                                              <p:childTnLst>
                                                <p:set>
                                                  <p:cBhvr>
                                                    <p:cTn id="23" dur="1" fill="hold">
                                                      <p:stCondLst>
                                                        <p:cond delay="0"/>
                                                      </p:stCondLst>
                                                      <p:childTnLst/>
                                                    </p:cTn>
                                                    <p:tgtEl>
                                                      <p:spTgt spid="4"/>
                                                    </p:tgtEl>
                                                    <p:attrNameLst>
                                                      <p:attrName>style.visibility</p:attrName>
                                                    </p:attrNameLst>
                                                  </p:cBhvr>
                                                  <p:to>
                                                    <p:strVal val="visible"/>
                                                  </p:to>
                                                </p:set>
                                              </p:childTnLst>
                                            </p:cTn>
                                          </p:par>
                                          <p:par>
                                            <p:cTn id="24" presetID="10" presetClass="entr" presetSubtype="0" fill="hold" grpId="0" nodeType="withEffect">
                                              <p:childTnLst>
                                                <p:animEffect transition="in" filter="fade">
                                                  <p:cBhvr>
                                                    <p:cTn id="25" dur="600"/>
                                                    <p:tgtEl>
                                                      <p:spTgt spid="4"/>
                                                    </p:tgtEl>
                                                  </p:cBhvr>
                                                </p:animEffect>
                                              </p:childTnLst>
                                            </p:cTn>
                                          </p:par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 evt="onClick"/>
                      </p:stCondLst>
                      <p:childTnLst>
                        <p:par>
                          <p:cTn id="27" fill="hold">
                            <p:childTnLst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29" fill="hold">
                                        <p:stCondLst>
                                          <p:cond delay="0"/>
                                        </p:stCondLst>
                                        <p:childTnLst>
                                          <p:par>
                                            <p:cTn id="30" presetID="1" presetClass="entr" presetSubtype="0" fill="hold" grpId="0" nodeType="withEffect">
                                              <p:childTnLst>
                                                <p:set>
                                                  <p:cBhvr>
                                                    <p:cTn id="31" dur="1" fill="hold">
                                                      <p:stCondLst>
                                                        <p:cond delay="0"/>
                                                      </p:stCondLst>
                                                      <p:childTnLst/>
                                                    </p:cTn>
                                                    <p:tgtEl>
                                                      <p:spTgt spid="5"/>
                                                    </p:tgtEl>
                                                    <p:attrNameLst>
                                                      <p:attrName>style.visibility</p:attrName>
                                                    </p:attrNameLst>
                                                  </p:cBhvr>
                                                  <p:to>
                                                    <p:strVal val="visible"/>
                                                  </p:to>
                                                </p:set>
                                              </p:childTnLst>
                                            </p:cTn>
                                          </p:par>
                                          <p:par>
                                            <p:cTn id="32" presetID="10" presetClass="entr" presetSubtype="0" fill="hold" grpId="0" nodeType="withEffect">
                                              <p:childTnLst>
                                                <p:animEffect transition="in" filter="fade">
                                                  <p:cBhvr>
                                                    <p:cTn id="33" dur="600"/>
                                                    <p:tgtEl>
                                                      <p:spTgt spid="5"/>
                                                    </p:tgtEl>
                                                  </p:cBhvr>
                                                </p:animEffect>
                                              </p:childTnLst>
                                            </p:cTn>
                                          </p:par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35" fill="hold">
                                        <p:stCondLst>
                                          <p:cond delay="0"/>
                                        </p:stCondLst>
                                        <p:childTnLst>
                                          <p:par>
                                            <p:cTn id="36" presetID="1" presetClass="entr" presetSubtype="0" fill="hold" grpId="0" nodeType="withEffect">
                                              <p:childTnLst>
                                                <p:set>
                                                  <p:cBhvr>
                                                    <p:cTn id="37" dur="1" fill="hold">
                                                      <p:stCondLst>
                                                        <p:cond delay="0"/>
                                                      </p:stCondLst>
                                                      <p:childTnLst/>
                                                    </p:cTn>
                                                    <p:tgtEl>
                                                      <p:spTgt spid="6"/>
                                                    </p:tgtEl>
                                                    <p:attrNameLst>
                                                      <p:attrName>style.visibility</p:attrName>
                                                    </p:attrNameLst>
                                                  </p:cBhvr>
                                                  <p:to>
                                                    <p:strVal val="visible"/>
                                                  </p:to>
                                                </p:set>
                                              </p:childTnLst>
                                            </p:cTn>
                                          </p:par>
                                          <p:par>
                                            <p:cTn id="38" presetID="10" presetClass="entr" presetSubtype="0" fill="hold" grpId="0" nodeType="withEffect">
                                              <p:childTnLst>
                                                <p:animEffect transition="in" filter="fade">
                                                  <p:cBhvr>
                                                    <p:cTn id="39" dur="600"/>
                                                    <p:tgtEl>
                                                      <p:spTgt spid="6"/>
                                                    </p:tgtEl>
                                                  </p:cBhvr>
                                                </p:animEffect>
                                              </p:childTnLst>
                                            </p:cTn>
                                          </p:par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Click" delay="0">
                  <p:tgtEl>
                    <p:sldTgt/>
                  </p:tgtEl>
                </p:cond>
              </p:prevCondLst>
              <p:nextCondLst>
                <p:cond evt="onClick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4" grpId="0"/>
      <p:bldP spid="5" grpId="0"/>
      <p:bldP spid="6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