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jpg"/><Relationship Id="rId7" Type="http://schemas.openxmlformats.org/officeDocument/2006/relationships/image" Target="../media/image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01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7724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A CLAY SHELTER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34440"/>
            <a:ext cx="67665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 i="0">
                <a:solidFill>
                  <a:srgbClr val="5A3A22"/>
                </a:solidFill>
                <a:latin typeface="Trebuchet MS"/>
              </a:rPr>
              <a:t>GRIZZLY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514600"/>
            <a:ext cx="61264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 i="0">
                <a:solidFill>
                  <a:srgbClr val="5C4C3E"/>
                </a:solidFill>
                <a:latin typeface="Trebuchet MS"/>
              </a:rPr>
              <a:t>Grizzly is a cheerful young bear, curious, brave and full of love for nature. This is the story of the little clay house that was designed and built just for him.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5262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7D6D"/>
                </a:solidFill>
                <a:latin typeface="Trebuchet MS"/>
              </a:rPr>
              <a:t>By </a:t>
            </a:r>
            <a:r>
              <a:rPr sz="1350" b="1" i="0">
                <a:solidFill>
                  <a:srgbClr val="8A7D6D"/>
                </a:solidFill>
                <a:latin typeface="Trebuchet MS"/>
              </a:rPr>
              <a:t>Arooj Fatima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88352" y="1101852"/>
            <a:ext cx="4105655" cy="410565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a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165860"/>
            <a:ext cx="3977639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02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883664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MATERIAL &amp; AESTHETIC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COLOURS, TEXTURE &amp; NATURE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5C4C3E"/>
                </a:solidFill>
                <a:latin typeface="Trebuchet MS"/>
              </a:rPr>
              <a:t>The whole house is built with non air-dry clay, shaped by hand and used in different shades.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286000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532888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A05C33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1368" y="2414016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BROWN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walls and the bear's face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01383" y="2532888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3E9E4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414016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GREEN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base and the plants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84448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" y="3831335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2E7CD6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01368" y="3712463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BLUE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584448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01383" y="3831335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F2C529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3712463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YELLOW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honey on the roof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882896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2" y="5129783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5010912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WHITE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stones and the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82896"/>
            <a:ext cx="5358384" cy="1042415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01383" y="5129783"/>
            <a:ext cx="777240" cy="548640"/>
          </a:xfrm>
          <a:prstGeom prst="roundRect">
            <a:avLst>
              <a:gd name="adj" fmla="val 25000"/>
            </a:avLst>
          </a:prstGeom>
          <a:solidFill>
            <a:srgbClr val="222222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79" y="5010912"/>
            <a:ext cx="4023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5A3A22"/>
                </a:solidFill>
                <a:latin typeface="Trebuchet MS"/>
              </a:rPr>
              <a:t>BLACK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C4C3E"/>
                </a:solidFill>
                <a:latin typeface="Trebuchet MS"/>
              </a:rPr>
              <a:t>the eyes and the nose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03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208836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FROM SKETCH TO SHELTER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First, the plan in sketches, step by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47825" y="1947672"/>
            <a:ext cx="183977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etch-1-base-cub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833" y="2011680"/>
            <a:ext cx="1711756" cy="1481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01  BASE 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plain cube every step starts from.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60377" y="1947672"/>
            <a:ext cx="165905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ketch-2-subtraction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385" y="2011680"/>
            <a:ext cx="1531036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02  SUBTRACTION (ENTRANCE)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arched entrance is cut into the cube.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1199" y="1947672"/>
            <a:ext cx="162179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ketch-3-subtraction-windo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5207" y="2011680"/>
            <a:ext cx="1493776" cy="1481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11311" y="352958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03  SUBTRACTION (WINDOW)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3813048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square window is cut into the wall.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78155" y="4251959"/>
            <a:ext cx="1579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ketch-4-final-for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2163" y="4315968"/>
            <a:ext cx="1451096" cy="148132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04  THE SHELTER 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two volumes join into one shelter.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10219" y="4251959"/>
            <a:ext cx="1359369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ketch-5-addition-small-cube-on-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4227" y="4315968"/>
            <a:ext cx="1231353" cy="148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89120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05  ADDITION (SMALL CUBE ON TOP)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small cube is added on top.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28611" y="4251959"/>
            <a:ext cx="2366969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ketch-6-addition-side-cub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2619" y="4315968"/>
            <a:ext cx="2238953" cy="14813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11311" y="5833872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06  ADDITION (SIDE CUBE)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1" y="6117336"/>
            <a:ext cx="340156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A side cube extends the shelter.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04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208836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BUILDING IT IN CLAY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Then, the shelter is built by hand, one stage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22601"/>
            <a:ext cx="3529584" cy="2041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cess-1-wal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86609"/>
            <a:ext cx="3401568" cy="19133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01  RAISING THE WALLS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Flat clay slabs are joined on the green 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4359" y="1947672"/>
            <a:ext cx="1851088" cy="3191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cess-2-main-cube-entran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367" y="2011680"/>
            <a:ext cx="1723072" cy="3063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89120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02  THE MAIN CUBE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cube takes shape, with its arched entrance.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9372" y="1947672"/>
            <a:ext cx="2425446" cy="31912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nal-front-cle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380" y="2011680"/>
            <a:ext cx="2297429" cy="3063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11311" y="5175504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5A3A22"/>
                </a:solidFill>
                <a:latin typeface="Trebuchet MS"/>
              </a:rPr>
              <a:t>03  SIDE CUBE &amp;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1311" y="5458968"/>
            <a:ext cx="340156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A7D6D"/>
                </a:solidFill>
                <a:latin typeface="Trebuchet MS"/>
              </a:rPr>
              <a:t>The attached room and blue window are added.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05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358798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CHARACTER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GRIZZLY'S QUALITIES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7532" y="1719072"/>
            <a:ext cx="3044952" cy="30449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ea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1783080"/>
            <a:ext cx="2916936" cy="29169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0" y="196596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Caring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Loving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Friendly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Adventurous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Impatient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Naturist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3832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Brave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Protective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Enthusiastic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Loyal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Curious</a:t>
            </a:r>
          </a:p>
          <a:p>
            <a:pPr algn="l">
              <a:lnSpc>
                <a:spcPct val="150000"/>
              </a:lnSpc>
            </a:pPr>
            <a:r>
              <a:rPr sz="2000" b="0" i="0">
                <a:solidFill>
                  <a:srgbClr val="3E2A1A"/>
                </a:solidFill>
                <a:latin typeface="Trebuchet MS"/>
              </a:rPr>
              <a:t>•  Foody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06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2033625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ARCHITECTURAL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LITTLE DETAILS, BIG PERSONALITY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93106"/>
            <a:ext cx="4791455" cy="35575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nal-shelter-ske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7114"/>
            <a:ext cx="4663440" cy="3429571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715000" y="1819656"/>
            <a:ext cx="155448" cy="155448"/>
          </a:xfrm>
          <a:prstGeom prst="ellipse">
            <a:avLst/>
          </a:prstGeom>
          <a:solidFill>
            <a:srgbClr val="2E7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53328" y="1737360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CURIOSITY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window, in bright blue colour.</a:t>
            </a:r>
          </a:p>
        </p:txBody>
      </p:sp>
      <p:sp>
        <p:nvSpPr>
          <p:cNvPr id="10" name="Oval 9"/>
          <p:cNvSpPr/>
          <p:nvPr/>
        </p:nvSpPr>
        <p:spPr>
          <a:xfrm>
            <a:off x="5715000" y="2542032"/>
            <a:ext cx="155448" cy="155448"/>
          </a:xfrm>
          <a:prstGeom prst="ellipse">
            <a:avLst/>
          </a:prstGeom>
          <a:solidFill>
            <a:srgbClr val="3E7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2459736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NATURIST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green base and the plants.</a:t>
            </a:r>
          </a:p>
        </p:txBody>
      </p:sp>
      <p:sp>
        <p:nvSpPr>
          <p:cNvPr id="12" name="Oval 11"/>
          <p:cNvSpPr/>
          <p:nvPr/>
        </p:nvSpPr>
        <p:spPr>
          <a:xfrm>
            <a:off x="5715000" y="3264408"/>
            <a:ext cx="155448" cy="155448"/>
          </a:xfrm>
          <a:prstGeom prst="ellipse">
            <a:avLst/>
          </a:prstGeom>
          <a:solidFill>
            <a:srgbClr val="A05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53328" y="3182112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BRAVE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strong cubic structure.</a:t>
            </a:r>
          </a:p>
        </p:txBody>
      </p:sp>
      <p:sp>
        <p:nvSpPr>
          <p:cNvPr id="14" name="Oval 13"/>
          <p:cNvSpPr/>
          <p:nvPr/>
        </p:nvSpPr>
        <p:spPr>
          <a:xfrm>
            <a:off x="5715000" y="3986783"/>
            <a:ext cx="155448" cy="155448"/>
          </a:xfrm>
          <a:prstGeom prst="ellipse">
            <a:avLst/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3904487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FOODY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honey pot on the roof.</a:t>
            </a:r>
          </a:p>
        </p:txBody>
      </p:sp>
      <p:sp>
        <p:nvSpPr>
          <p:cNvPr id="16" name="Oval 15"/>
          <p:cNvSpPr/>
          <p:nvPr/>
        </p:nvSpPr>
        <p:spPr>
          <a:xfrm>
            <a:off x="5715000" y="4709160"/>
            <a:ext cx="155448" cy="155448"/>
          </a:xfrm>
          <a:prstGeom prst="ellipse">
            <a:avLst/>
          </a:prstGeom>
          <a:solidFill>
            <a:srgbClr val="5A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4626864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ATTENTION SEEKER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bear face entrance.</a:t>
            </a:r>
          </a:p>
        </p:txBody>
      </p:sp>
      <p:sp>
        <p:nvSpPr>
          <p:cNvPr id="18" name="Oval 17"/>
          <p:cNvSpPr/>
          <p:nvPr/>
        </p:nvSpPr>
        <p:spPr>
          <a:xfrm>
            <a:off x="5715000" y="5431536"/>
            <a:ext cx="155448" cy="155448"/>
          </a:xfrm>
          <a:prstGeom prst="ellipse">
            <a:avLst/>
          </a:prstGeom>
          <a:solidFill>
            <a:srgbClr val="3E7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53328" y="5349240"/>
            <a:ext cx="557784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1" i="0">
                <a:solidFill>
                  <a:srgbClr val="5A3A22"/>
                </a:solidFill>
                <a:latin typeface="Trebuchet MS"/>
              </a:rPr>
              <a:t>FRIENDLY</a:t>
            </a:r>
          </a:p>
          <a:p>
            <a:pPr algn="l">
              <a:lnSpc>
                <a:spcPct val="108000"/>
              </a:lnSpc>
            </a:pPr>
            <a:r>
              <a:rPr sz="1250" b="0" i="0">
                <a:solidFill>
                  <a:srgbClr val="5C4C3E"/>
                </a:solidFill>
                <a:latin typeface="Trebuchet MS"/>
              </a:rPr>
              <a:t>The open, welcoming entrance.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07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1733702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FINAL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5A3A22"/>
                </a:solidFill>
                <a:latin typeface="Trebuchet MS"/>
              </a:rPr>
              <a:t>MY FINAL GRIZZLY SHELTER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A7D6D"/>
                </a:solidFill>
                <a:latin typeface="Trebuchet MS"/>
              </a:rPr>
              <a:t>One model, viewed from different angles.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3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nal-1-angle-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1" y="2011680"/>
            <a:ext cx="246888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ANGLE 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91455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nal-2-front-vie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464" y="2011680"/>
            <a:ext cx="2468880" cy="3291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89120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FRONT 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3647" y="1947672"/>
            <a:ext cx="2596896" cy="3419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nal-3-side-vie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7655" y="2011680"/>
            <a:ext cx="2468880" cy="3291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11311" y="5394960"/>
            <a:ext cx="340156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8A7D6D"/>
                </a:solidFill>
                <a:latin typeface="Trebuchet MS"/>
              </a:rPr>
              <a:t>SIDE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870448"/>
            <a:ext cx="81655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3E7C43"/>
                </a:solidFill>
                <a:latin typeface="Trebuchet MS"/>
              </a:rPr>
              <a:t>A shelter where architecture meets imagination.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6473952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GRIZZLY SHELTER  /  ARCHITECTURAL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7040" y="64739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0">
                <a:solidFill>
                  <a:srgbClr val="8A7D6D"/>
                </a:solidFill>
                <a:latin typeface="Trebuchet MS"/>
              </a:rPr>
              <a:t>08 / 08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41390" y="777240"/>
            <a:ext cx="908913" cy="310896"/>
          </a:xfrm>
          <a:prstGeom prst="roundRect">
            <a:avLst>
              <a:gd name="adj" fmla="val 50000"/>
            </a:avLst>
          </a:prstGeom>
          <a:solidFill>
            <a:srgbClr val="E8A8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000" b="1">
                <a:solidFill>
                  <a:srgbClr val="3A2A10"/>
                </a:solidFill>
                <a:latin typeface="Trebuchet MS"/>
              </a:rPr>
              <a:t>THE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48656" y="1261872"/>
            <a:ext cx="170078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C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ear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1325880"/>
            <a:ext cx="1572768" cy="1572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11680" y="310896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>
                <a:solidFill>
                  <a:srgbClr val="5A3A22"/>
                </a:solidFill>
                <a:latin typeface="Trebuchet MS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114800"/>
            <a:ext cx="816559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5C4C3E"/>
                </a:solidFill>
                <a:latin typeface="Trebuchet MS"/>
              </a:rPr>
              <a:t>And so Grizzly got a home as brave, warm and full of love as he is, built by hand, one cube at a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257800"/>
            <a:ext cx="816559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8A7D6D"/>
                </a:solidFill>
                <a:latin typeface="Trebuchet MS"/>
              </a:rPr>
              <a:t>Presentation by Arooj Fatima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