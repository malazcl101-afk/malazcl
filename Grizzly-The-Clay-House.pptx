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GRIZZLY SHELTER  /  ARCHITECTURAL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01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777240"/>
            <a:ext cx="1883664" cy="310896"/>
          </a:xfrm>
          <a:prstGeom prst="roundRect">
            <a:avLst>
              <a:gd name="adj" fmla="val 50000"/>
            </a:avLst>
          </a:prstGeom>
          <a:solidFill>
            <a:srgbClr val="E8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3A2A10"/>
                </a:solidFill>
                <a:latin typeface="Trebuchet MS"/>
              </a:rPr>
              <a:t>A CLAY SHELTER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234440"/>
            <a:ext cx="676656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800" b="1" i="0">
                <a:solidFill>
                  <a:srgbClr val="5A3A22"/>
                </a:solidFill>
                <a:latin typeface="Trebuchet MS"/>
              </a:rPr>
              <a:t>GRIZZLY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514600"/>
            <a:ext cx="612648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50" b="0" i="0">
                <a:solidFill>
                  <a:srgbClr val="5C4C3E"/>
                </a:solidFill>
                <a:latin typeface="Trebuchet MS"/>
              </a:rPr>
              <a:t>Grizzly is a cheerful young bear, curious, brave and full of love for nature. This is the story of the little clay house that was designed and built just for him.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526280"/>
            <a:ext cx="5943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8A7D6D"/>
                </a:solidFill>
                <a:latin typeface="Trebuchet MS"/>
              </a:rPr>
              <a:t>By </a:t>
            </a:r>
            <a:r>
              <a:rPr sz="1350" b="1" i="0">
                <a:solidFill>
                  <a:srgbClr val="8A7D6D"/>
                </a:solidFill>
                <a:latin typeface="Trebuchet MS"/>
              </a:rPr>
              <a:t>Arooj Fatima</a:t>
            </a:r>
          </a:p>
        </p:txBody>
      </p:sp>
      <p:pic>
        <p:nvPicPr>
          <p:cNvPr id="8" name="Picture 7" descr="grizzly-b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525540"/>
            <a:ext cx="3977639" cy="3258279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 evt="onClick"/>
                      </p:stCondLst>
                      <p:childTnLst>
                        <p:par>
                          <p:cTn id="5" fill="hold"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4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1" dur="600"/>
                                                    <p:tgtEl>
                                                      <p:spTgt spid="4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5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7" dur="600"/>
                                                    <p:tgtEl>
                                                      <p:spTgt spid="5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 evt="onClick"/>
                      </p:stCondLst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22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23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8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24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25" dur="600"/>
                                                    <p:tgtEl>
                                                      <p:spTgt spid="8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 evt="onClick"/>
                      </p:stCondLst>
                      <p:childTnLst>
                        <p:par>
                          <p:cTn id="27" fill="hold">
                            <p:childTnLst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3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3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6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3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33" dur="600"/>
                                                    <p:tgtEl>
                                                      <p:spTgt spid="6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 evt="onClick"/>
                      </p:stCondLst>
                      <p:childTnLst>
                        <p:par>
                          <p:cTn id="35" fill="hold">
                            <p:childTnLst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3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3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7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4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41" dur="600"/>
                                                    <p:tgtEl>
                                                      <p:spTgt spid="7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Click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6" grpId="0"/>
      <p:bldP spid="7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GRIZZLY SHELTER  /  ARCHITECTURAL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02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1883664" cy="310896"/>
          </a:xfrm>
          <a:prstGeom prst="roundRect">
            <a:avLst>
              <a:gd name="adj" fmla="val 50000"/>
            </a:avLst>
          </a:prstGeom>
          <a:solidFill>
            <a:srgbClr val="E8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3A2A10"/>
                </a:solidFill>
                <a:latin typeface="Trebuchet MS"/>
              </a:rPr>
              <a:t>MATERIAL &amp; AESTHETIC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5A3A22"/>
                </a:solidFill>
                <a:latin typeface="Trebuchet MS"/>
              </a:rPr>
              <a:t>COLOURS, TEXTURE &amp; NATURE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5C4C3E"/>
                </a:solidFill>
                <a:latin typeface="Trebuchet MS"/>
              </a:rPr>
              <a:t>The whole house is built with non air-dry clay, shaped by hand and used in different shades.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86000"/>
            <a:ext cx="5358384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4672" y="2532888"/>
            <a:ext cx="777240" cy="548640"/>
          </a:xfrm>
          <a:prstGeom prst="roundRect">
            <a:avLst>
              <a:gd name="adj" fmla="val 25000"/>
            </a:avLst>
          </a:prstGeom>
          <a:solidFill>
            <a:srgbClr val="A05C33"/>
          </a:solidFill>
          <a:ln w="12700">
            <a:solidFill>
              <a:srgbClr val="DD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1368" y="2414016"/>
            <a:ext cx="4023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5A3A22"/>
                </a:solidFill>
                <a:latin typeface="Trebuchet MS"/>
              </a:rPr>
              <a:t>BROWN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C4C3E"/>
                </a:solidFill>
                <a:latin typeface="Trebuchet MS"/>
              </a:rPr>
              <a:t>the walls and the bear's face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286000"/>
            <a:ext cx="5358384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01383" y="2532888"/>
            <a:ext cx="777240" cy="548640"/>
          </a:xfrm>
          <a:prstGeom prst="roundRect">
            <a:avLst>
              <a:gd name="adj" fmla="val 25000"/>
            </a:avLst>
          </a:prstGeom>
          <a:solidFill>
            <a:srgbClr val="3E9E4F"/>
          </a:solidFill>
          <a:ln w="12700">
            <a:solidFill>
              <a:srgbClr val="DD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414016"/>
            <a:ext cx="4023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5A3A22"/>
                </a:solidFill>
                <a:latin typeface="Trebuchet MS"/>
              </a:rPr>
              <a:t>GREEN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C4C3E"/>
                </a:solidFill>
                <a:latin typeface="Trebuchet MS"/>
              </a:rPr>
              <a:t>the base and the plants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84448"/>
            <a:ext cx="5358384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" y="3831335"/>
            <a:ext cx="777240" cy="548640"/>
          </a:xfrm>
          <a:prstGeom prst="roundRect">
            <a:avLst>
              <a:gd name="adj" fmla="val 25000"/>
            </a:avLst>
          </a:prstGeom>
          <a:solidFill>
            <a:srgbClr val="2E7CD6"/>
          </a:solidFill>
          <a:ln w="12700">
            <a:solidFill>
              <a:srgbClr val="DD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01368" y="3712463"/>
            <a:ext cx="4023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5A3A22"/>
                </a:solidFill>
                <a:latin typeface="Trebuchet MS"/>
              </a:rPr>
              <a:t>BLUE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C4C3E"/>
                </a:solidFill>
                <a:latin typeface="Trebuchet MS"/>
              </a:rPr>
              <a:t>the window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584448"/>
            <a:ext cx="5358384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1383" y="3831335"/>
            <a:ext cx="777240" cy="548640"/>
          </a:xfrm>
          <a:prstGeom prst="roundRect">
            <a:avLst>
              <a:gd name="adj" fmla="val 25000"/>
            </a:avLst>
          </a:prstGeom>
          <a:solidFill>
            <a:srgbClr val="F2C529"/>
          </a:solidFill>
          <a:ln w="12700">
            <a:solidFill>
              <a:srgbClr val="DD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3712463"/>
            <a:ext cx="4023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5A3A22"/>
                </a:solidFill>
                <a:latin typeface="Trebuchet MS"/>
              </a:rPr>
              <a:t>YELLOW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C4C3E"/>
                </a:solidFill>
                <a:latin typeface="Trebuchet MS"/>
              </a:rPr>
              <a:t>the honey on the roof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882896"/>
            <a:ext cx="5358384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4672" y="5129783"/>
            <a:ext cx="777240" cy="5486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DD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01368" y="5010912"/>
            <a:ext cx="4023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5A3A22"/>
                </a:solidFill>
                <a:latin typeface="Trebuchet MS"/>
              </a:rPr>
              <a:t>WHITE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C4C3E"/>
                </a:solidFill>
                <a:latin typeface="Trebuchet MS"/>
              </a:rPr>
              <a:t>the stones and the path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882896"/>
            <a:ext cx="5358384" cy="1042415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D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01383" y="5129783"/>
            <a:ext cx="777240" cy="548640"/>
          </a:xfrm>
          <a:prstGeom prst="roundRect">
            <a:avLst>
              <a:gd name="adj" fmla="val 25000"/>
            </a:avLst>
          </a:prstGeom>
          <a:solidFill>
            <a:srgbClr val="222222"/>
          </a:solidFill>
          <a:ln w="12700">
            <a:solidFill>
              <a:srgbClr val="DDC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5010912"/>
            <a:ext cx="40233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50" b="1" i="0">
                <a:solidFill>
                  <a:srgbClr val="5A3A22"/>
                </a:solidFill>
                <a:latin typeface="Trebuchet MS"/>
              </a:rPr>
              <a:t>BLACK</a:t>
            </a:r>
          </a:p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5C4C3E"/>
                </a:solidFill>
                <a:latin typeface="Trebuchet MS"/>
              </a:rPr>
              <a:t>the eyes and the nose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 evt="onClick"/>
                      </p:stCondLst>
                      <p:childTnLst>
                        <p:par>
                          <p:cTn id="5" fill="hold"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6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1" dur="600"/>
                                                    <p:tgtEl>
                                                      <p:spTgt spid="6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 evt="onClick"/>
                      </p:stCondLst>
                      <p:childTnLst>
                        <p:par>
                          <p:cTn id="13" fill="hold">
                            <p:childTnLst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6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7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7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8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9" dur="600"/>
                                                    <p:tgtEl>
                                                      <p:spTgt spid="7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22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23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8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24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25" dur="600"/>
                                                    <p:tgtEl>
                                                      <p:spTgt spid="8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2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2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9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3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31" dur="600"/>
                                                    <p:tgtEl>
                                                      <p:spTgt spid="9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 evt="onClick"/>
                      </p:stCondLst>
                      <p:childTnLst>
                        <p:par>
                          <p:cTn id="33" fill="hold">
                            <p:childTnLst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5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36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37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0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38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39" dur="600"/>
                                                    <p:tgtEl>
                                                      <p:spTgt spid="10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42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43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1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44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45" dur="600"/>
                                                    <p:tgtEl>
                                                      <p:spTgt spid="11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4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4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2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5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51" dur="600"/>
                                                    <p:tgtEl>
                                                      <p:spTgt spid="12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 evt="onClick"/>
                      </p:stCondLst>
                      <p:childTnLst>
                        <p:par>
                          <p:cTn id="53" fill="hold">
                            <p:childTnLst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5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56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57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3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58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59" dur="600"/>
                                                    <p:tgtEl>
                                                      <p:spTgt spid="13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1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62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63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4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64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65" dur="600"/>
                                                    <p:tgtEl>
                                                      <p:spTgt spid="14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6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6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5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7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71" dur="600"/>
                                                    <p:tgtEl>
                                                      <p:spTgt spid="15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 evt="onClick"/>
                      </p:stCondLst>
                      <p:childTnLst>
                        <p:par>
                          <p:cTn id="73" fill="hold">
                            <p:childTnLst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5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76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77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6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78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79" dur="600"/>
                                                    <p:tgtEl>
                                                      <p:spTgt spid="16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1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82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83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7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84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85" dur="600"/>
                                                    <p:tgtEl>
                                                      <p:spTgt spid="17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8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8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8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9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91" dur="600"/>
                                                    <p:tgtEl>
                                                      <p:spTgt spid="18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 evt="onClick"/>
                      </p:stCondLst>
                      <p:childTnLst>
                        <p:par>
                          <p:cTn id="93" fill="hold">
                            <p:childTnLst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5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96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97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9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98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99" dur="600"/>
                                                    <p:tgtEl>
                                                      <p:spTgt spid="19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1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02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03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20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04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05" dur="600"/>
                                                    <p:tgtEl>
                                                      <p:spTgt spid="20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0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0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21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1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11" dur="600"/>
                                                    <p:tgtEl>
                                                      <p:spTgt spid="21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 evt="onClick"/>
                      </p:stCondLst>
                      <p:childTnLst>
                        <p:par>
                          <p:cTn id="113" fill="hold">
                            <p:childTnLst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5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16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17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22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18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19" dur="600"/>
                                                    <p:tgtEl>
                                                      <p:spTgt spid="22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1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22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23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23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24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25" dur="600"/>
                                                    <p:tgtEl>
                                                      <p:spTgt spid="23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2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2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2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24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3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31" dur="600"/>
                                                    <p:tgtEl>
                                                      <p:spTgt spid="24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Click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GRIZZLY SHELTER  /  ARCHITECTURAL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03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1208836" cy="310896"/>
          </a:xfrm>
          <a:prstGeom prst="roundRect">
            <a:avLst>
              <a:gd name="adj" fmla="val 50000"/>
            </a:avLst>
          </a:prstGeom>
          <a:solidFill>
            <a:srgbClr val="E8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3A2A10"/>
                </a:solidFill>
                <a:latin typeface="Trebuchet MS"/>
              </a:rPr>
              <a:t>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5A3A22"/>
                </a:solidFill>
                <a:latin typeface="Trebuchet MS"/>
              </a:rPr>
              <a:t>FROM SKETCH TO SHELTER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7D6D"/>
                </a:solidFill>
                <a:latin typeface="Trebuchet MS"/>
              </a:rPr>
              <a:t>First, the plan in sketches, step by step.</a:t>
            </a:r>
          </a:p>
        </p:txBody>
      </p:sp>
      <p:pic>
        <p:nvPicPr>
          <p:cNvPr id="7" name="Picture 6" descr="sketch-1-base-cu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833" y="2011680"/>
            <a:ext cx="1711756" cy="1481328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529584"/>
            <a:ext cx="3401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A3A22"/>
                </a:solidFill>
                <a:latin typeface="Trebuchet MS"/>
              </a:rPr>
              <a:t>01  BASE CUBE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13048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D6D"/>
                </a:solidFill>
                <a:latin typeface="Trebuchet MS"/>
              </a:rPr>
              <a:t>The plain cube every step starts from.</a:t>
            </a:r>
          </a:p>
        </p:txBody>
      </p:sp>
      <p:pic>
        <p:nvPicPr>
          <p:cNvPr id="10" name="Picture 9" descr="sketch-2-subtraction-entran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385" y="2011680"/>
            <a:ext cx="1531036" cy="1481328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0" y="3529584"/>
            <a:ext cx="3401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A3A22"/>
                </a:solidFill>
                <a:latin typeface="Trebuchet MS"/>
              </a:rPr>
              <a:t>02  SUBTRACTION (ENTRANCE)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813048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D6D"/>
                </a:solidFill>
                <a:latin typeface="Trebuchet MS"/>
              </a:rPr>
              <a:t>The arched entrance is cut into the cube.</a:t>
            </a:r>
          </a:p>
        </p:txBody>
      </p:sp>
      <p:pic>
        <p:nvPicPr>
          <p:cNvPr id="13" name="Picture 12" descr="sketch-3-subtraction-windo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5207" y="2011680"/>
            <a:ext cx="1493776" cy="1481328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11311" y="3529584"/>
            <a:ext cx="3401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A3A22"/>
                </a:solidFill>
                <a:latin typeface="Trebuchet MS"/>
              </a:rPr>
              <a:t>03  SUBTRACTION (WINDOW)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3813048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D6D"/>
                </a:solidFill>
                <a:latin typeface="Trebuchet MS"/>
              </a:rPr>
              <a:t>A square window is cut into the wall.</a:t>
            </a:r>
          </a:p>
        </p:txBody>
      </p:sp>
      <p:pic>
        <p:nvPicPr>
          <p:cNvPr id="16" name="Picture 15" descr="sketch-4-combined-for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227" y="4315968"/>
            <a:ext cx="3188970" cy="1481328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5833872"/>
            <a:ext cx="3401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A3A22"/>
                </a:solidFill>
                <a:latin typeface="Trebuchet MS"/>
              </a:rPr>
              <a:t>04  COMBINED 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117336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D6D"/>
                </a:solidFill>
                <a:latin typeface="Trebuchet MS"/>
              </a:rPr>
              <a:t>The two volumes join into one form.</a:t>
            </a:r>
          </a:p>
        </p:txBody>
      </p:sp>
      <p:pic>
        <p:nvPicPr>
          <p:cNvPr id="19" name="Picture 18" descr="sketch-5-addition-small-cube-on-top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4227" y="4315968"/>
            <a:ext cx="1231353" cy="1481328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389120" y="5833872"/>
            <a:ext cx="3401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A3A22"/>
                </a:solidFill>
                <a:latin typeface="Trebuchet MS"/>
              </a:rPr>
              <a:t>05  ADDITION (SMALL CUBE ON TOP)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6117336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D6D"/>
                </a:solidFill>
                <a:latin typeface="Trebuchet MS"/>
              </a:rPr>
              <a:t>A small cube is added on top.</a:t>
            </a:r>
          </a:p>
        </p:txBody>
      </p:sp>
      <p:pic>
        <p:nvPicPr>
          <p:cNvPr id="22" name="Picture 21" descr="sketch-6-addition-side-cub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2619" y="4315968"/>
            <a:ext cx="2238953" cy="1481328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11311" y="5833872"/>
            <a:ext cx="3401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A3A22"/>
                </a:solidFill>
                <a:latin typeface="Trebuchet MS"/>
              </a:rPr>
              <a:t>06  ADDITION (SIDE CUBE)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1" y="6117336"/>
            <a:ext cx="340156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D6D"/>
                </a:solidFill>
                <a:latin typeface="Trebuchet MS"/>
              </a:rPr>
              <a:t>A side cube extends the shelter.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 evt="onClick"/>
                      </p:stCondLst>
                      <p:childTnLst>
                        <p:par>
                          <p:cTn id="5" fill="hold"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7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1" dur="600"/>
                                                    <p:tgtEl>
                                                      <p:spTgt spid="7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8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7" dur="600"/>
                                                    <p:tgtEl>
                                                      <p:spTgt spid="8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2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2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9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2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23" dur="600"/>
                                                    <p:tgtEl>
                                                      <p:spTgt spid="9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 evt="onClick"/>
                      </p:stCondLst>
                      <p:childTnLst>
                        <p:par>
                          <p:cTn id="25" fill="hold"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2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2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0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3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31" dur="600"/>
                                                    <p:tgtEl>
                                                      <p:spTgt spid="10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3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3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1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3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37" dur="600"/>
                                                    <p:tgtEl>
                                                      <p:spTgt spid="11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4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4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2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4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43" dur="600"/>
                                                    <p:tgtEl>
                                                      <p:spTgt spid="12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 evt="onClick"/>
                      </p:stCondLst>
                      <p:childTnLst>
                        <p:par>
                          <p:cTn id="45" fill="hold">
                            <p:childTnLst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4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4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3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5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51" dur="600"/>
                                                    <p:tgtEl>
                                                      <p:spTgt spid="13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5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5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4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5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57" dur="600"/>
                                                    <p:tgtEl>
                                                      <p:spTgt spid="14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6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6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5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6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63" dur="600"/>
                                                    <p:tgtEl>
                                                      <p:spTgt spid="15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 evt="onClick"/>
                      </p:stCondLst>
                      <p:childTnLst>
                        <p:par>
                          <p:cTn id="65" fill="hold">
                            <p:childTnLst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6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6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6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7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71" dur="600"/>
                                                    <p:tgtEl>
                                                      <p:spTgt spid="16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7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7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7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7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77" dur="600"/>
                                                    <p:tgtEl>
                                                      <p:spTgt spid="17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8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8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8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8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83" dur="600"/>
                                                    <p:tgtEl>
                                                      <p:spTgt spid="18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 evt="onClick"/>
                      </p:stCondLst>
                      <p:childTnLst>
                        <p:par>
                          <p:cTn id="85" fill="hold">
                            <p:childTnLst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8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8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9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9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91" dur="600"/>
                                                    <p:tgtEl>
                                                      <p:spTgt spid="19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9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9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20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9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97" dur="600"/>
                                                    <p:tgtEl>
                                                      <p:spTgt spid="20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0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0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21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0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03" dur="600"/>
                                                    <p:tgtEl>
                                                      <p:spTgt spid="21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 evt="onClick"/>
                      </p:stCondLst>
                      <p:childTnLst>
                        <p:par>
                          <p:cTn id="105" fill="hold">
                            <p:childTnLst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0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0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0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22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1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11" dur="600"/>
                                                    <p:tgtEl>
                                                      <p:spTgt spid="22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1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1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23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1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17" dur="600"/>
                                                    <p:tgtEl>
                                                      <p:spTgt spid="23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1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2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2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24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2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23" dur="600"/>
                                                    <p:tgtEl>
                                                      <p:spTgt spid="24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Click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GRIZZLY SHELTER  /  ARCHITECTURAL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04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1208836" cy="310896"/>
          </a:xfrm>
          <a:prstGeom prst="roundRect">
            <a:avLst>
              <a:gd name="adj" fmla="val 50000"/>
            </a:avLst>
          </a:prstGeom>
          <a:solidFill>
            <a:srgbClr val="E8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3A2A10"/>
                </a:solidFill>
                <a:latin typeface="Trebuchet MS"/>
              </a:rPr>
              <a:t>THE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5A3A22"/>
                </a:solidFill>
                <a:latin typeface="Trebuchet MS"/>
              </a:rPr>
              <a:t>BUILDING IT IN CLAY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7D6D"/>
                </a:solidFill>
                <a:latin typeface="Trebuchet MS"/>
              </a:rPr>
              <a:t>Then, the shelter is built by hand, one stage at a time.</a:t>
            </a:r>
          </a:p>
        </p:txBody>
      </p:sp>
      <p:pic>
        <p:nvPicPr>
          <p:cNvPr id="7" name="Picture 6" descr="process-1-wall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586609"/>
            <a:ext cx="3401568" cy="1913381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175504"/>
            <a:ext cx="3401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A3A22"/>
                </a:solidFill>
                <a:latin typeface="Trebuchet MS"/>
              </a:rPr>
              <a:t>01  RAISING THE WALLS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58968"/>
            <a:ext cx="34015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D6D"/>
                </a:solidFill>
                <a:latin typeface="Trebuchet MS"/>
              </a:rPr>
              <a:t>Flat clay slabs are joined on the green base.</a:t>
            </a:r>
          </a:p>
        </p:txBody>
      </p:sp>
      <p:pic>
        <p:nvPicPr>
          <p:cNvPr id="10" name="Picture 9" descr="process-2-main-cube-entran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8367" y="2011680"/>
            <a:ext cx="1723072" cy="3063240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0" y="5175504"/>
            <a:ext cx="3401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A3A22"/>
                </a:solidFill>
                <a:latin typeface="Trebuchet MS"/>
              </a:rPr>
              <a:t>02  THE MAIN CUBE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458968"/>
            <a:ext cx="34015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D6D"/>
                </a:solidFill>
                <a:latin typeface="Trebuchet MS"/>
              </a:rPr>
              <a:t>The cube takes shape, with its arched entrance.</a:t>
            </a:r>
          </a:p>
        </p:txBody>
      </p:sp>
      <p:pic>
        <p:nvPicPr>
          <p:cNvPr id="13" name="Picture 12" descr="process-3-side-cube-windo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0559" y="2011680"/>
            <a:ext cx="1723072" cy="3063240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11311" y="5175504"/>
            <a:ext cx="3401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5A3A22"/>
                </a:solidFill>
                <a:latin typeface="Trebuchet MS"/>
              </a:rPr>
              <a:t>03  SIDE CUBE &amp;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5458968"/>
            <a:ext cx="34015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8A7D6D"/>
                </a:solidFill>
                <a:latin typeface="Trebuchet MS"/>
              </a:rPr>
              <a:t>The attached room and blue window are added.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 evt="onClick"/>
                      </p:stCondLst>
                      <p:childTnLst>
                        <p:par>
                          <p:cTn id="5" fill="hold"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7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1" dur="600"/>
                                                    <p:tgtEl>
                                                      <p:spTgt spid="7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8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7" dur="600"/>
                                                    <p:tgtEl>
                                                      <p:spTgt spid="8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2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2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9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2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23" dur="600"/>
                                                    <p:tgtEl>
                                                      <p:spTgt spid="9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 evt="onClick"/>
                      </p:stCondLst>
                      <p:childTnLst>
                        <p:par>
                          <p:cTn id="25" fill="hold">
                            <p:childTnLst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2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2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0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3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31" dur="600"/>
                                                    <p:tgtEl>
                                                      <p:spTgt spid="10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3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3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1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3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37" dur="600"/>
                                                    <p:tgtEl>
                                                      <p:spTgt spid="11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4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4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2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4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43" dur="600"/>
                                                    <p:tgtEl>
                                                      <p:spTgt spid="12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 evt="onClick"/>
                      </p:stCondLst>
                      <p:childTnLst>
                        <p:par>
                          <p:cTn id="45" fill="hold">
                            <p:childTnLst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4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4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3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5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51" dur="600"/>
                                                    <p:tgtEl>
                                                      <p:spTgt spid="13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5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5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4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5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57" dur="600"/>
                                                    <p:tgtEl>
                                                      <p:spTgt spid="14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6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6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5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6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63" dur="600"/>
                                                    <p:tgtEl>
                                                      <p:spTgt spid="15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Click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GRIZZLY SHELTER  /  ARCHITECTURAL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05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1358798" cy="310896"/>
          </a:xfrm>
          <a:prstGeom prst="roundRect">
            <a:avLst>
              <a:gd name="adj" fmla="val 50000"/>
            </a:avLst>
          </a:prstGeom>
          <a:solidFill>
            <a:srgbClr val="E8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3A2A10"/>
                </a:solidFill>
                <a:latin typeface="Trebuchet MS"/>
              </a:rPr>
              <a:t>THE CHARACTER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5A3A22"/>
                </a:solidFill>
                <a:latin typeface="Trebuchet MS"/>
              </a:rPr>
              <a:t>GRIZZLY'S QUALITIES</a:t>
            </a:r>
          </a:p>
        </p:txBody>
      </p:sp>
      <p:pic>
        <p:nvPicPr>
          <p:cNvPr id="6" name="Picture 5" descr="grizzly-b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40" y="1783080"/>
            <a:ext cx="3560934" cy="2916936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1965960"/>
            <a:ext cx="33832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E2A1A"/>
                </a:solidFill>
                <a:latin typeface="Trebuchet MS"/>
              </a:rPr>
              <a:t>•  Caring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E2A1A"/>
                </a:solidFill>
                <a:latin typeface="Trebuchet MS"/>
              </a:rPr>
              <a:t>•  Loving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E2A1A"/>
                </a:solidFill>
                <a:latin typeface="Trebuchet MS"/>
              </a:rPr>
              <a:t>•  Friendly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E2A1A"/>
                </a:solidFill>
                <a:latin typeface="Trebuchet MS"/>
              </a:rPr>
              <a:t>•  Adventurous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E2A1A"/>
                </a:solidFill>
                <a:latin typeface="Trebuchet MS"/>
              </a:rPr>
              <a:t>•  Impatient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E2A1A"/>
                </a:solidFill>
                <a:latin typeface="Trebuchet MS"/>
              </a:rPr>
              <a:t>•  Naturist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965960"/>
            <a:ext cx="338328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E2A1A"/>
                </a:solidFill>
                <a:latin typeface="Trebuchet MS"/>
              </a:rPr>
              <a:t>•  Brave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E2A1A"/>
                </a:solidFill>
                <a:latin typeface="Trebuchet MS"/>
              </a:rPr>
              <a:t>•  Protective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E2A1A"/>
                </a:solidFill>
                <a:latin typeface="Trebuchet MS"/>
              </a:rPr>
              <a:t>•  Enthusiastic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E2A1A"/>
                </a:solidFill>
                <a:latin typeface="Trebuchet MS"/>
              </a:rPr>
              <a:t>•  Loyal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E2A1A"/>
                </a:solidFill>
                <a:latin typeface="Trebuchet MS"/>
              </a:rPr>
              <a:t>•  Curious</a:t>
            </a:r>
          </a:p>
          <a:p>
            <a:pPr algn="l">
              <a:lnSpc>
                <a:spcPct val="150000"/>
              </a:lnSpc>
            </a:pPr>
            <a:r>
              <a:rPr sz="2000" b="0" i="0">
                <a:solidFill>
                  <a:srgbClr val="3E2A1A"/>
                </a:solidFill>
                <a:latin typeface="Trebuchet MS"/>
              </a:rPr>
              <a:t>•  Foody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 evt="onClick"/>
                      </p:stCondLst>
                      <p:childTnLst>
                        <p:par>
                          <p:cTn id="5" fill="hold"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6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1" dur="600"/>
                                                    <p:tgtEl>
                                                      <p:spTgt spid="6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 evt="onClick"/>
                      </p:stCondLst>
                      <p:childTnLst>
                        <p:par>
                          <p:cTn id="13" fill="hold">
                            <p:childTnLst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6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7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7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8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9" dur="600"/>
                                                    <p:tgtEl>
                                                      <p:spTgt spid="7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 evt="onClick"/>
                      </p:stCondLst>
                      <p:childTnLst>
                        <p:par>
                          <p:cTn id="21" fill="hold">
                            <p:childTnLst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2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2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8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2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27" dur="600"/>
                                                    <p:tgtEl>
                                                      <p:spTgt spid="8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Click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GRIZZLY SHELTER  /  ARCHITECTURAL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06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2033625" cy="310896"/>
          </a:xfrm>
          <a:prstGeom prst="roundRect">
            <a:avLst>
              <a:gd name="adj" fmla="val 50000"/>
            </a:avLst>
          </a:prstGeom>
          <a:solidFill>
            <a:srgbClr val="E8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3A2A10"/>
                </a:solidFill>
                <a:latin typeface="Trebuchet MS"/>
              </a:rPr>
              <a:t>ARCHITECTURAL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5A3A22"/>
                </a:solidFill>
                <a:latin typeface="Trebuchet MS"/>
              </a:rPr>
              <a:t>LITTLE DETAILS, BIG PERSONALITY</a:t>
            </a:r>
          </a:p>
        </p:txBody>
      </p:sp>
      <p:pic>
        <p:nvPicPr>
          <p:cNvPr id="6" name="Picture 5" descr="final-shelter-sketc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57114"/>
            <a:ext cx="4663440" cy="3429571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715000" y="1819656"/>
            <a:ext cx="155448" cy="155448"/>
          </a:xfrm>
          <a:prstGeom prst="ellipse">
            <a:avLst/>
          </a:prstGeom>
          <a:solidFill>
            <a:srgbClr val="2E7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53328" y="1737360"/>
            <a:ext cx="55778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5A3A22"/>
                </a:solidFill>
                <a:latin typeface="Trebuchet MS"/>
              </a:rPr>
              <a:t>CURIOSITY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C4C3E"/>
                </a:solidFill>
                <a:latin typeface="Trebuchet MS"/>
              </a:rPr>
              <a:t>The window, in bright blue colour.</a:t>
            </a:r>
          </a:p>
        </p:txBody>
      </p:sp>
      <p:sp>
        <p:nvSpPr>
          <p:cNvPr id="9" name="Oval 8"/>
          <p:cNvSpPr/>
          <p:nvPr/>
        </p:nvSpPr>
        <p:spPr>
          <a:xfrm>
            <a:off x="5715000" y="2542032"/>
            <a:ext cx="155448" cy="155448"/>
          </a:xfrm>
          <a:prstGeom prst="ellipse">
            <a:avLst/>
          </a:prstGeom>
          <a:solidFill>
            <a:srgbClr val="3E7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2459736"/>
            <a:ext cx="55778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5A3A22"/>
                </a:solidFill>
                <a:latin typeface="Trebuchet MS"/>
              </a:rPr>
              <a:t>NATURIST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C4C3E"/>
                </a:solidFill>
                <a:latin typeface="Trebuchet MS"/>
              </a:rPr>
              <a:t>The green base and the plants.</a:t>
            </a:r>
          </a:p>
        </p:txBody>
      </p:sp>
      <p:sp>
        <p:nvSpPr>
          <p:cNvPr id="11" name="Oval 10"/>
          <p:cNvSpPr/>
          <p:nvPr/>
        </p:nvSpPr>
        <p:spPr>
          <a:xfrm>
            <a:off x="5715000" y="3264408"/>
            <a:ext cx="155448" cy="155448"/>
          </a:xfrm>
          <a:prstGeom prst="ellipse">
            <a:avLst/>
          </a:prstGeom>
          <a:solidFill>
            <a:srgbClr val="A05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53328" y="3182112"/>
            <a:ext cx="55778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5A3A22"/>
                </a:solidFill>
                <a:latin typeface="Trebuchet MS"/>
              </a:rPr>
              <a:t>BRAVE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C4C3E"/>
                </a:solidFill>
                <a:latin typeface="Trebuchet MS"/>
              </a:rPr>
              <a:t>The strong cubic structure.</a:t>
            </a:r>
          </a:p>
        </p:txBody>
      </p:sp>
      <p:sp>
        <p:nvSpPr>
          <p:cNvPr id="13" name="Oval 12"/>
          <p:cNvSpPr/>
          <p:nvPr/>
        </p:nvSpPr>
        <p:spPr>
          <a:xfrm>
            <a:off x="5715000" y="3986783"/>
            <a:ext cx="155448" cy="155448"/>
          </a:xfrm>
          <a:prstGeom prst="ellipse">
            <a:avLst/>
          </a:prstGeom>
          <a:solidFill>
            <a:srgbClr val="E8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3904487"/>
            <a:ext cx="55778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5A3A22"/>
                </a:solidFill>
                <a:latin typeface="Trebuchet MS"/>
              </a:rPr>
              <a:t>FOODY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C4C3E"/>
                </a:solidFill>
                <a:latin typeface="Trebuchet MS"/>
              </a:rPr>
              <a:t>The honey pot on the roof.</a:t>
            </a:r>
          </a:p>
        </p:txBody>
      </p:sp>
      <p:sp>
        <p:nvSpPr>
          <p:cNvPr id="15" name="Oval 14"/>
          <p:cNvSpPr/>
          <p:nvPr/>
        </p:nvSpPr>
        <p:spPr>
          <a:xfrm>
            <a:off x="5715000" y="4709160"/>
            <a:ext cx="155448" cy="155448"/>
          </a:xfrm>
          <a:prstGeom prst="ellipse">
            <a:avLst/>
          </a:prstGeom>
          <a:solidFill>
            <a:srgbClr val="5A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4626864"/>
            <a:ext cx="55778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5A3A22"/>
                </a:solidFill>
                <a:latin typeface="Trebuchet MS"/>
              </a:rPr>
              <a:t>ATTENTION SEEKER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C4C3E"/>
                </a:solidFill>
                <a:latin typeface="Trebuchet MS"/>
              </a:rPr>
              <a:t>The bear face entrance.</a:t>
            </a:r>
          </a:p>
        </p:txBody>
      </p:sp>
      <p:sp>
        <p:nvSpPr>
          <p:cNvPr id="17" name="Oval 16"/>
          <p:cNvSpPr/>
          <p:nvPr/>
        </p:nvSpPr>
        <p:spPr>
          <a:xfrm>
            <a:off x="5715000" y="5431536"/>
            <a:ext cx="155448" cy="155448"/>
          </a:xfrm>
          <a:prstGeom prst="ellipse">
            <a:avLst/>
          </a:prstGeom>
          <a:solidFill>
            <a:srgbClr val="3E7C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53328" y="5349240"/>
            <a:ext cx="557784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5A3A22"/>
                </a:solidFill>
                <a:latin typeface="Trebuchet MS"/>
              </a:rPr>
              <a:t>FRIENDLY</a:t>
            </a:r>
          </a:p>
          <a:p>
            <a:pPr algn="l">
              <a:lnSpc>
                <a:spcPct val="108000"/>
              </a:lnSpc>
            </a:pPr>
            <a:r>
              <a:rPr sz="1250" b="0" i="0">
                <a:solidFill>
                  <a:srgbClr val="5C4C3E"/>
                </a:solidFill>
                <a:latin typeface="Trebuchet MS"/>
              </a:rPr>
              <a:t>The open, welcoming entrance.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 evt="onClick"/>
                      </p:stCondLst>
                      <p:childTnLst>
                        <p:par>
                          <p:cTn id="5" fill="hold"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6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1" dur="600"/>
                                                    <p:tgtEl>
                                                      <p:spTgt spid="6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 evt="onClick"/>
                      </p:stCondLst>
                      <p:childTnLst>
                        <p:par>
                          <p:cTn id="13" fill="hold">
                            <p:childTnLst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6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7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7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8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9" dur="600"/>
                                                    <p:tgtEl>
                                                      <p:spTgt spid="7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22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23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8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24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25" dur="600"/>
                                                    <p:tgtEl>
                                                      <p:spTgt spid="8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 evt="onClick"/>
                      </p:stCondLst>
                      <p:childTnLst>
                        <p:par>
                          <p:cTn id="27" fill="hold">
                            <p:childTnLst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3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3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9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3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33" dur="600"/>
                                                    <p:tgtEl>
                                                      <p:spTgt spid="9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5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36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37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0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38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39" dur="600"/>
                                                    <p:tgtEl>
                                                      <p:spTgt spid="10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 evt="onClick"/>
                      </p:stCondLst>
                      <p:childTnLst>
                        <p:par>
                          <p:cTn id="41" fill="hold">
                            <p:childTnLst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4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4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1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4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47" dur="600"/>
                                                    <p:tgtEl>
                                                      <p:spTgt spid="11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5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5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2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5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53" dur="600"/>
                                                    <p:tgtEl>
                                                      <p:spTgt spid="12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 evt="onClick"/>
                      </p:stCondLst>
                      <p:childTnLst>
                        <p:par>
                          <p:cTn id="55" fill="hold">
                            <p:childTnLst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5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5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5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3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6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61" dur="600"/>
                                                    <p:tgtEl>
                                                      <p:spTgt spid="13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6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6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4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6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67" dur="600"/>
                                                    <p:tgtEl>
                                                      <p:spTgt spid="14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 evt="onClick"/>
                      </p:stCondLst>
                      <p:childTnLst>
                        <p:par>
                          <p:cTn id="69" fill="hold"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1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72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73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5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74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75" dur="600"/>
                                                    <p:tgtEl>
                                                      <p:spTgt spid="15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7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7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6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8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81" dur="600"/>
                                                    <p:tgtEl>
                                                      <p:spTgt spid="16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 evt="onClick"/>
                      </p:stCondLst>
                      <p:childTnLst>
                        <p:par>
                          <p:cTn id="83" fill="hold">
                            <p:childTnLst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85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86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87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7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88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89" dur="600"/>
                                                    <p:tgtEl>
                                                      <p:spTgt spid="17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91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92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93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8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94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95" dur="600"/>
                                                    <p:tgtEl>
                                                      <p:spTgt spid="18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Click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GRIZZLY SHELTER  /  ARCHITECTURAL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07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457200"/>
            <a:ext cx="1733702" cy="310896"/>
          </a:xfrm>
          <a:prstGeom prst="roundRect">
            <a:avLst>
              <a:gd name="adj" fmla="val 50000"/>
            </a:avLst>
          </a:prstGeom>
          <a:solidFill>
            <a:srgbClr val="E8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3A2A10"/>
                </a:solidFill>
                <a:latin typeface="Trebuchet MS"/>
              </a:rPr>
              <a:t>FINAL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110642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5A3A22"/>
                </a:solidFill>
                <a:latin typeface="Trebuchet MS"/>
              </a:rPr>
              <a:t>MY FINAL GRIZZLY SHELTER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A7D6D"/>
                </a:solidFill>
                <a:latin typeface="Trebuchet MS"/>
              </a:rPr>
              <a:t>One model, viewed from different angles.</a:t>
            </a:r>
          </a:p>
        </p:txBody>
      </p:sp>
      <p:pic>
        <p:nvPicPr>
          <p:cNvPr id="7" name="Picture 6" descr="final-1-angle-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1" y="2011680"/>
            <a:ext cx="2468880" cy="3291840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394960"/>
            <a:ext cx="3401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8A7D6D"/>
                </a:solidFill>
                <a:latin typeface="Trebuchet MS"/>
              </a:rPr>
              <a:t>ANGLE VIEW</a:t>
            </a:r>
          </a:p>
        </p:txBody>
      </p:sp>
      <p:pic>
        <p:nvPicPr>
          <p:cNvPr id="9" name="Picture 8" descr="final-2-front-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5464" y="2011680"/>
            <a:ext cx="2468880" cy="3291840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89120" y="5394960"/>
            <a:ext cx="3401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8A7D6D"/>
                </a:solidFill>
                <a:latin typeface="Trebuchet MS"/>
              </a:rPr>
              <a:t>FRONT VIEW</a:t>
            </a:r>
          </a:p>
        </p:txBody>
      </p:sp>
      <p:pic>
        <p:nvPicPr>
          <p:cNvPr id="11" name="Picture 10" descr="final-3-side-view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655" y="2011680"/>
            <a:ext cx="2468880" cy="3291840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11311" y="5394960"/>
            <a:ext cx="340156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8A7D6D"/>
                </a:solidFill>
                <a:latin typeface="Trebuchet MS"/>
              </a:rPr>
              <a:t>SIDE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870448"/>
            <a:ext cx="816559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50" b="1" i="0">
                <a:solidFill>
                  <a:srgbClr val="3E7C43"/>
                </a:solidFill>
                <a:latin typeface="Trebuchet MS"/>
              </a:rPr>
              <a:t>A shelter where architecture meets imagination.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 evt="onClick"/>
                      </p:stCondLst>
                      <p:childTnLst>
                        <p:par>
                          <p:cTn id="5" fill="hold"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7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1" dur="600"/>
                                                    <p:tgtEl>
                                                      <p:spTgt spid="7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3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4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5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8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6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7" dur="600"/>
                                                    <p:tgtEl>
                                                      <p:spTgt spid="8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 evt="onClick"/>
                      </p:stCondLst>
                      <p:childTnLst>
                        <p:par>
                          <p:cTn id="19" fill="hold"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22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23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9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24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25" dur="600"/>
                                                    <p:tgtEl>
                                                      <p:spTgt spid="9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2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2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0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3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31" dur="600"/>
                                                    <p:tgtEl>
                                                      <p:spTgt spid="10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 evt="onClick"/>
                      </p:stCondLst>
                      <p:childTnLst>
                        <p:par>
                          <p:cTn id="33" fill="hold">
                            <p:childTnLst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35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36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37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1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38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39" dur="600"/>
                                                    <p:tgtEl>
                                                      <p:spTgt spid="11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1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42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43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2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44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45" dur="600"/>
                                                    <p:tgtEl>
                                                      <p:spTgt spid="12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 evt="onClick"/>
                      </p:stCondLst>
                      <p:childTnLst>
                        <p:par>
                          <p:cTn id="47" fill="hold">
                            <p:childTnLst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4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5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5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13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5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53" dur="600"/>
                                                    <p:tgtEl>
                                                      <p:spTgt spid="13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Click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6473952"/>
            <a:ext cx="5943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GRIZZLY SHELTER  /  ARCHITECTURAL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50" b="0" i="0">
                <a:solidFill>
                  <a:srgbClr val="8A7D6D"/>
                </a:solidFill>
                <a:latin typeface="Trebuchet MS"/>
              </a:rPr>
              <a:t>08 / 08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41390" y="777240"/>
            <a:ext cx="908913" cy="310896"/>
          </a:xfrm>
          <a:prstGeom prst="roundRect">
            <a:avLst>
              <a:gd name="adj" fmla="val 50000"/>
            </a:avLst>
          </a:prstGeom>
          <a:solidFill>
            <a:srgbClr val="E8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000" b="1">
                <a:solidFill>
                  <a:srgbClr val="3A2A10"/>
                </a:solidFill>
                <a:latin typeface="Trebuchet MS"/>
              </a:rPr>
              <a:t>THE END</a:t>
            </a:r>
          </a:p>
        </p:txBody>
      </p:sp>
      <p:pic>
        <p:nvPicPr>
          <p:cNvPr id="5" name="Picture 4" descr="grizzly-b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046" y="1325880"/>
            <a:ext cx="1920002" cy="1572768"/>
          </a:xfrm>
          <a:prstGeom prst="roundRect">
            <a:avLst>
              <a:gd name="adj" fmla="val 6500"/>
            </a:avLst>
          </a:prstGeo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3108960"/>
            <a:ext cx="816559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5A3A22"/>
                </a:solidFill>
                <a:latin typeface="Trebuchet MS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114800"/>
            <a:ext cx="816559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 i="0">
                <a:solidFill>
                  <a:srgbClr val="5C4C3E"/>
                </a:solidFill>
                <a:latin typeface="Trebuchet MS"/>
              </a:rPr>
              <a:t>And so Grizzly got a home as brave, warm and full of love as he is, built by hand, one cube at a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257800"/>
            <a:ext cx="816559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8A7D6D"/>
                </a:solidFill>
                <a:latin typeface="Trebuchet MS"/>
              </a:rPr>
              <a:t>Presentation by Arooj Fatima</a:t>
            </a:r>
          </a:p>
        </p:txBody>
      </p:sp>
    </p:spTree>
  </p:cSld>
  <p:clrMapOvr>
    <a:masterClrMapping/>
  </p:clrMapOvr>
  <p:timing>
    <p:tnLst>
      <p:par>
        <p:cTn id="2" dur="indefinite" restart="never" nodeType="tmRoot">
          <p:childTnLst>
            <p:seq concurrent="1" nextAc="seek">
              <p:cTn id="3" dur="indefinite" nodeType="mainSeq">
                <p:childTnLst>
                  <p:par>
                    <p:cTn id="4" fill="hold">
                      <p:stCondLst>
                        <p:cond delay="indefinite" evt="onClick"/>
                      </p:stCondLst>
                      <p:childTnLst>
                        <p:par>
                          <p:cTn id="5" fill="hold">
                            <p:childTnLst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7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8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9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5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0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1" dur="600"/>
                                                    <p:tgtEl>
                                                      <p:spTgt spid="5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 evt="onClick"/>
                      </p:stCondLst>
                      <p:childTnLst>
                        <p:par>
                          <p:cTn id="13" fill="hold">
                            <p:childTnLst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15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16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17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6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18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19" dur="600"/>
                                                    <p:tgtEl>
                                                      <p:spTgt spid="6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1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22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23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7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24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25" dur="600"/>
                                                    <p:tgtEl>
                                                      <p:spTgt spid="7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 evt="onClick"/>
                      </p:stCondLst>
                      <p:childTnLst>
                        <p:par>
                          <p:cTn id="27" fill="hold">
                            <p:childTnLst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29" fill="hold">
                                        <p:stCondLst>
                                          <p:cond delay="0"/>
                                        </p:stCondLst>
                                        <p:childTnLst>
                                          <p:par>
                                            <p:cTn id="30" presetID="1" presetClass="entr" presetSubtype="0" fill="hold" grpId="0" nodeType="withEffect">
                                              <p:childTnLst>
                                                <p:set>
                                                  <p:cBhvr>
                                                    <p:cTn id="31" dur="1" fill="hold">
                                                      <p:stCondLst>
                                                        <p:cond delay="0"/>
                                                      </p:stCondLst>
                                                      <p:childTnLst/>
                                                    </p:cTn>
                                                    <p:tgtEl>
                                                      <p:spTgt spid="8"/>
                                                    </p:tgtEl>
                                                    <p:attrNameLst>
                                                      <p:attrName>style.visibility</p:attrName>
                                                    </p:attrNameLst>
                                                  </p:cBhvr>
                                                  <p:to>
                                                    <p:strVal val="visible"/>
                                                  </p:to>
                                                </p:set>
                                              </p:childTnLst>
                                            </p:cTn>
                                          </p:par>
                                          <p:par>
                                            <p:cTn id="32" presetID="10" presetClass="entr" presetSubtype="0" fill="hold" grpId="0" nodeType="withEffect">
                                              <p:childTnLst>
                                                <p:animEffect transition="in" filter="fade">
                                                  <p:cBhvr>
                                                    <p:cTn id="33" dur="600"/>
                                                    <p:tgtEl>
                                                      <p:spTgt spid="8"/>
                                                    </p:tgtEl>
                                                  </p:cBhvr>
                                                </p:animEffect>
                                              </p:childTnLst>
                                            </p:cTn>
                                          </p:par>
                                        </p:childTnLst>
                                      </p:cTn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Click" delay="0">
                  <p:tgtEl>
                    <p:sldTgt/>
                  </p:tgtEl>
                </p:cond>
              </p:prevCondLst>
              <p:nextCondLst>
                <p:cond evt="onClick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