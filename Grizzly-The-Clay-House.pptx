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jpg"/><Relationship Id="rId3" Type="http://schemas.openxmlformats.org/officeDocument/2006/relationships/image" Target="../media/image3.jpg"/><Relationship Id="rId4" Type="http://schemas.openxmlformats.org/officeDocument/2006/relationships/image" Target="../media/image4.jpg"/><Relationship Id="rId5" Type="http://schemas.openxmlformats.org/officeDocument/2006/relationships/image" Target="../media/image5.jpg"/><Relationship Id="rId6" Type="http://schemas.openxmlformats.org/officeDocument/2006/relationships/image" Target="../media/image6.jpg"/><Relationship Id="rId7" Type="http://schemas.openxmlformats.org/officeDocument/2006/relationships/image" Target="../media/image7.jp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jpg"/><Relationship Id="rId3" Type="http://schemas.openxmlformats.org/officeDocument/2006/relationships/image" Target="../media/image9.jpg"/><Relationship Id="rId4" Type="http://schemas.openxmlformats.org/officeDocument/2006/relationships/image" Target="../media/image10.jp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.jp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2.jpg"/><Relationship Id="rId3" Type="http://schemas.openxmlformats.org/officeDocument/2006/relationships/image" Target="../media/image13.jpg"/><Relationship Id="rId4" Type="http://schemas.openxmlformats.org/officeDocument/2006/relationships/image" Target="../media/image14.jp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6E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6473952"/>
            <a:ext cx="59436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850" b="0" i="0">
                <a:solidFill>
                  <a:srgbClr val="8A7D6D"/>
                </a:solidFill>
                <a:latin typeface="Trebuchet MS"/>
              </a:rPr>
              <a:t>GRIZZLY SHELTER  /  ARCHITECTURAL STUDIO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607040" y="6473952"/>
            <a:ext cx="100584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850" b="0" i="0">
                <a:solidFill>
                  <a:srgbClr val="8A7D6D"/>
                </a:solidFill>
                <a:latin typeface="Trebuchet MS"/>
              </a:rPr>
              <a:t>01 / 08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66928" y="777240"/>
            <a:ext cx="1883664" cy="310896"/>
          </a:xfrm>
          <a:prstGeom prst="roundRect">
            <a:avLst>
              <a:gd name="adj" fmla="val 50000"/>
            </a:avLst>
          </a:prstGeom>
          <a:solidFill>
            <a:srgbClr val="E8A81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45720" rIns="45720" tIns="0" bIns="0"/>
          <a:lstStyle/>
          <a:p>
            <a:pPr algn="ctr"/>
            <a:r>
              <a:rPr sz="1000" b="1">
                <a:solidFill>
                  <a:srgbClr val="3A2A10"/>
                </a:solidFill>
                <a:latin typeface="Trebuchet MS"/>
              </a:rPr>
              <a:t>A CLAY SHELTER STORY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1234440"/>
            <a:ext cx="6766560" cy="1143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5800" b="1" i="0">
                <a:solidFill>
                  <a:srgbClr val="5A3A22"/>
                </a:solidFill>
                <a:latin typeface="Trebuchet MS"/>
              </a:rPr>
              <a:t>GRIZZLY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2514600"/>
            <a:ext cx="6126480" cy="17373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650" b="0" i="0">
                <a:solidFill>
                  <a:srgbClr val="5C4C3E"/>
                </a:solidFill>
                <a:latin typeface="Trebuchet MS"/>
              </a:rPr>
              <a:t>Grizzly is a cheerful young bear, curious, brave and full of love for nature. This is the story of the little clay house that was designed and built just for him.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4526280"/>
            <a:ext cx="59436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0" i="0">
                <a:solidFill>
                  <a:srgbClr val="8A7D6D"/>
                </a:solidFill>
                <a:latin typeface="Trebuchet MS"/>
              </a:rPr>
              <a:t>By </a:t>
            </a:r>
            <a:r>
              <a:rPr sz="1350" b="1" i="0">
                <a:solidFill>
                  <a:srgbClr val="8A7D6D"/>
                </a:solidFill>
                <a:latin typeface="Trebuchet MS"/>
              </a:rPr>
              <a:t>Arooj Fatima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388352" y="1461532"/>
            <a:ext cx="4105655" cy="3386295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DCFB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" name="Picture 8" descr="grizzly-bea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452360" y="1525540"/>
            <a:ext cx="3977639" cy="3258279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6E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6473952"/>
            <a:ext cx="59436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850" b="0" i="0">
                <a:solidFill>
                  <a:srgbClr val="8A7D6D"/>
                </a:solidFill>
                <a:latin typeface="Trebuchet MS"/>
              </a:rPr>
              <a:t>GRIZZLY SHELTER  /  ARCHITECTURAL STUDIO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607040" y="6473952"/>
            <a:ext cx="100584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850" b="0" i="0">
                <a:solidFill>
                  <a:srgbClr val="8A7D6D"/>
                </a:solidFill>
                <a:latin typeface="Trebuchet MS"/>
              </a:rPr>
              <a:t>02 / 08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66928" y="457200"/>
            <a:ext cx="1883664" cy="310896"/>
          </a:xfrm>
          <a:prstGeom prst="roundRect">
            <a:avLst>
              <a:gd name="adj" fmla="val 50000"/>
            </a:avLst>
          </a:prstGeom>
          <a:solidFill>
            <a:srgbClr val="E8A81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45720" rIns="45720" tIns="0" bIns="0"/>
          <a:lstStyle/>
          <a:p>
            <a:pPr algn="ctr"/>
            <a:r>
              <a:rPr sz="1000" b="1">
                <a:solidFill>
                  <a:srgbClr val="3A2A10"/>
                </a:solidFill>
                <a:latin typeface="Trebuchet MS"/>
              </a:rPr>
              <a:t>MATERIAL &amp; AESTHETIC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896112"/>
            <a:ext cx="11064240" cy="6583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700" b="1" i="0">
                <a:solidFill>
                  <a:srgbClr val="5A3A22"/>
                </a:solidFill>
                <a:latin typeface="Trebuchet MS"/>
              </a:rPr>
              <a:t>COLOURS, TEXTURE &amp; NATURE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1481328"/>
            <a:ext cx="1106424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550" b="0" i="0">
                <a:solidFill>
                  <a:srgbClr val="5C4C3E"/>
                </a:solidFill>
                <a:latin typeface="Trebuchet MS"/>
              </a:rPr>
              <a:t>The whole house is built with non air-dry clay, shaped by hand and used in different shades.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2286000"/>
            <a:ext cx="5358384" cy="1042415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12700">
            <a:solidFill>
              <a:srgbClr val="DDCFB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804672" y="2532888"/>
            <a:ext cx="777240" cy="548640"/>
          </a:xfrm>
          <a:prstGeom prst="roundRect">
            <a:avLst>
              <a:gd name="adj" fmla="val 25000"/>
            </a:avLst>
          </a:prstGeom>
          <a:solidFill>
            <a:srgbClr val="A05C33"/>
          </a:solidFill>
          <a:ln w="12700">
            <a:solidFill>
              <a:srgbClr val="DDCFB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801368" y="2414016"/>
            <a:ext cx="4023360" cy="8229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550" b="1" i="0">
                <a:solidFill>
                  <a:srgbClr val="5A3A22"/>
                </a:solidFill>
                <a:latin typeface="Trebuchet MS"/>
              </a:rPr>
              <a:t>BROWN</a:t>
            </a:r>
          </a:p>
          <a:p>
            <a:pPr algn="l">
              <a:lnSpc>
                <a:spcPct val="110000"/>
              </a:lnSpc>
            </a:pPr>
            <a:r>
              <a:rPr sz="1300" b="0" i="0">
                <a:solidFill>
                  <a:srgbClr val="5C4C3E"/>
                </a:solidFill>
                <a:latin typeface="Trebuchet MS"/>
              </a:rPr>
              <a:t>the walls and the bear's face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63640" y="2286000"/>
            <a:ext cx="5358384" cy="1042415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12700">
            <a:solidFill>
              <a:srgbClr val="DDCFB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6501383" y="2532888"/>
            <a:ext cx="777240" cy="548640"/>
          </a:xfrm>
          <a:prstGeom prst="roundRect">
            <a:avLst>
              <a:gd name="adj" fmla="val 25000"/>
            </a:avLst>
          </a:prstGeom>
          <a:solidFill>
            <a:srgbClr val="3E9E4F"/>
          </a:solidFill>
          <a:ln w="12700">
            <a:solidFill>
              <a:srgbClr val="DDCFB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498079" y="2414016"/>
            <a:ext cx="4023360" cy="8229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550" b="1" i="0">
                <a:solidFill>
                  <a:srgbClr val="5A3A22"/>
                </a:solidFill>
                <a:latin typeface="Trebuchet MS"/>
              </a:rPr>
              <a:t>GREEN</a:t>
            </a:r>
          </a:p>
          <a:p>
            <a:pPr algn="l">
              <a:lnSpc>
                <a:spcPct val="110000"/>
              </a:lnSpc>
            </a:pPr>
            <a:r>
              <a:rPr sz="1300" b="0" i="0">
                <a:solidFill>
                  <a:srgbClr val="5C4C3E"/>
                </a:solidFill>
                <a:latin typeface="Trebuchet MS"/>
              </a:rPr>
              <a:t>the base and the plants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66928" y="3584448"/>
            <a:ext cx="5358384" cy="1042415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12700">
            <a:solidFill>
              <a:srgbClr val="DDCFB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804672" y="3831335"/>
            <a:ext cx="777240" cy="548640"/>
          </a:xfrm>
          <a:prstGeom prst="roundRect">
            <a:avLst>
              <a:gd name="adj" fmla="val 25000"/>
            </a:avLst>
          </a:prstGeom>
          <a:solidFill>
            <a:srgbClr val="2E7CD6"/>
          </a:solidFill>
          <a:ln w="12700">
            <a:solidFill>
              <a:srgbClr val="DDCFB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801368" y="3712463"/>
            <a:ext cx="4023360" cy="8229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550" b="1" i="0">
                <a:solidFill>
                  <a:srgbClr val="5A3A22"/>
                </a:solidFill>
                <a:latin typeface="Trebuchet MS"/>
              </a:rPr>
              <a:t>BLUE</a:t>
            </a:r>
          </a:p>
          <a:p>
            <a:pPr algn="l">
              <a:lnSpc>
                <a:spcPct val="110000"/>
              </a:lnSpc>
            </a:pPr>
            <a:r>
              <a:rPr sz="1300" b="0" i="0">
                <a:solidFill>
                  <a:srgbClr val="5C4C3E"/>
                </a:solidFill>
                <a:latin typeface="Trebuchet MS"/>
              </a:rPr>
              <a:t>the window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263640" y="3584448"/>
            <a:ext cx="5358384" cy="1042415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12700">
            <a:solidFill>
              <a:srgbClr val="DDCFB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6501383" y="3831335"/>
            <a:ext cx="777240" cy="548640"/>
          </a:xfrm>
          <a:prstGeom prst="roundRect">
            <a:avLst>
              <a:gd name="adj" fmla="val 25000"/>
            </a:avLst>
          </a:prstGeom>
          <a:solidFill>
            <a:srgbClr val="F2C529"/>
          </a:solidFill>
          <a:ln w="12700">
            <a:solidFill>
              <a:srgbClr val="DDCFB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498079" y="3712463"/>
            <a:ext cx="4023360" cy="8229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550" b="1" i="0">
                <a:solidFill>
                  <a:srgbClr val="5A3A22"/>
                </a:solidFill>
                <a:latin typeface="Trebuchet MS"/>
              </a:rPr>
              <a:t>YELLOW</a:t>
            </a:r>
          </a:p>
          <a:p>
            <a:pPr algn="l">
              <a:lnSpc>
                <a:spcPct val="110000"/>
              </a:lnSpc>
            </a:pPr>
            <a:r>
              <a:rPr sz="1300" b="0" i="0">
                <a:solidFill>
                  <a:srgbClr val="5C4C3E"/>
                </a:solidFill>
                <a:latin typeface="Trebuchet MS"/>
              </a:rPr>
              <a:t>the honey on the roof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66928" y="4882896"/>
            <a:ext cx="5358384" cy="1042415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12700">
            <a:solidFill>
              <a:srgbClr val="DDCFB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ounded Rectangle 19"/>
          <p:cNvSpPr/>
          <p:nvPr/>
        </p:nvSpPr>
        <p:spPr>
          <a:xfrm>
            <a:off x="804672" y="5129783"/>
            <a:ext cx="777240" cy="548640"/>
          </a:xfrm>
          <a:prstGeom prst="roundRect">
            <a:avLst>
              <a:gd name="adj" fmla="val 25000"/>
            </a:avLst>
          </a:prstGeom>
          <a:solidFill>
            <a:srgbClr val="FFFFFF"/>
          </a:solidFill>
          <a:ln w="12700">
            <a:solidFill>
              <a:srgbClr val="DDCFB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801368" y="5010912"/>
            <a:ext cx="4023360" cy="8229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550" b="1" i="0">
                <a:solidFill>
                  <a:srgbClr val="5A3A22"/>
                </a:solidFill>
                <a:latin typeface="Trebuchet MS"/>
              </a:rPr>
              <a:t>WHITE</a:t>
            </a:r>
          </a:p>
          <a:p>
            <a:pPr algn="l">
              <a:lnSpc>
                <a:spcPct val="110000"/>
              </a:lnSpc>
            </a:pPr>
            <a:r>
              <a:rPr sz="1300" b="0" i="0">
                <a:solidFill>
                  <a:srgbClr val="5C4C3E"/>
                </a:solidFill>
                <a:latin typeface="Trebuchet MS"/>
              </a:rPr>
              <a:t>the stones and the path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263640" y="4882896"/>
            <a:ext cx="5358384" cy="1042415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12700">
            <a:solidFill>
              <a:srgbClr val="DDCFB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ounded Rectangle 22"/>
          <p:cNvSpPr/>
          <p:nvPr/>
        </p:nvSpPr>
        <p:spPr>
          <a:xfrm>
            <a:off x="6501383" y="5129783"/>
            <a:ext cx="777240" cy="548640"/>
          </a:xfrm>
          <a:prstGeom prst="roundRect">
            <a:avLst>
              <a:gd name="adj" fmla="val 25000"/>
            </a:avLst>
          </a:prstGeom>
          <a:solidFill>
            <a:srgbClr val="222222"/>
          </a:solidFill>
          <a:ln w="12700">
            <a:solidFill>
              <a:srgbClr val="DDCFB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7498079" y="5010912"/>
            <a:ext cx="4023360" cy="8229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550" b="1" i="0">
                <a:solidFill>
                  <a:srgbClr val="5A3A22"/>
                </a:solidFill>
                <a:latin typeface="Trebuchet MS"/>
              </a:rPr>
              <a:t>BLACK</a:t>
            </a:r>
          </a:p>
          <a:p>
            <a:pPr algn="l">
              <a:lnSpc>
                <a:spcPct val="110000"/>
              </a:lnSpc>
            </a:pPr>
            <a:r>
              <a:rPr sz="1300" b="0" i="0">
                <a:solidFill>
                  <a:srgbClr val="5C4C3E"/>
                </a:solidFill>
                <a:latin typeface="Trebuchet MS"/>
              </a:rPr>
              <a:t>the eyes and the nose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6E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6473952"/>
            <a:ext cx="59436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850" b="0" i="0">
                <a:solidFill>
                  <a:srgbClr val="8A7D6D"/>
                </a:solidFill>
                <a:latin typeface="Trebuchet MS"/>
              </a:rPr>
              <a:t>GRIZZLY SHELTER  /  ARCHITECTURAL STUDIO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607040" y="6473952"/>
            <a:ext cx="100584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850" b="0" i="0">
                <a:solidFill>
                  <a:srgbClr val="8A7D6D"/>
                </a:solidFill>
                <a:latin typeface="Trebuchet MS"/>
              </a:rPr>
              <a:t>03 / 08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66928" y="457200"/>
            <a:ext cx="1208836" cy="310896"/>
          </a:xfrm>
          <a:prstGeom prst="roundRect">
            <a:avLst>
              <a:gd name="adj" fmla="val 50000"/>
            </a:avLst>
          </a:prstGeom>
          <a:solidFill>
            <a:srgbClr val="E8A81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45720" rIns="45720" tIns="0" bIns="0"/>
          <a:lstStyle/>
          <a:p>
            <a:pPr algn="ctr"/>
            <a:r>
              <a:rPr sz="1000" b="1">
                <a:solidFill>
                  <a:srgbClr val="3A2A10"/>
                </a:solidFill>
                <a:latin typeface="Trebuchet MS"/>
              </a:rPr>
              <a:t>THE PROCESS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896112"/>
            <a:ext cx="11064240" cy="6583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700" b="1" i="0">
                <a:solidFill>
                  <a:srgbClr val="5A3A22"/>
                </a:solidFill>
                <a:latin typeface="Trebuchet MS"/>
              </a:rPr>
              <a:t>FROM SKETCH TO SHELTER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1463040"/>
            <a:ext cx="1106424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0" i="0">
                <a:solidFill>
                  <a:srgbClr val="8A7D6D"/>
                </a:solidFill>
                <a:latin typeface="Trebuchet MS"/>
              </a:rPr>
              <a:t>First, the plan in sketches, step by step.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1347825" y="1947672"/>
            <a:ext cx="1839772" cy="1609344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DCFB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8" name="Picture 7" descr="sketch-1-base-cub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11833" y="2011680"/>
            <a:ext cx="1711756" cy="1481328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566928" y="3529584"/>
            <a:ext cx="3401568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1" i="0">
                <a:solidFill>
                  <a:srgbClr val="5A3A22"/>
                </a:solidFill>
                <a:latin typeface="Trebuchet MS"/>
              </a:rPr>
              <a:t>01  BASE CUBE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66928" y="3813048"/>
            <a:ext cx="3401568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100" b="0" i="0">
                <a:solidFill>
                  <a:srgbClr val="8A7D6D"/>
                </a:solidFill>
                <a:latin typeface="Trebuchet MS"/>
              </a:rPr>
              <a:t>The plain cube every step starts from.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260377" y="1947672"/>
            <a:ext cx="1659052" cy="1609344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DCFB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2" name="Picture 11" descr="sketch-2-subtraction-entrance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24385" y="2011680"/>
            <a:ext cx="1531036" cy="1481328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4389120" y="3529584"/>
            <a:ext cx="3401568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1" i="0">
                <a:solidFill>
                  <a:srgbClr val="5A3A22"/>
                </a:solidFill>
                <a:latin typeface="Trebuchet MS"/>
              </a:rPr>
              <a:t>02  SUBTRACTION (ENTRANCE)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389120" y="3813048"/>
            <a:ext cx="3401568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100" b="0" i="0">
                <a:solidFill>
                  <a:srgbClr val="8A7D6D"/>
                </a:solidFill>
                <a:latin typeface="Trebuchet MS"/>
              </a:rPr>
              <a:t>The arched entrance is cut into the cube.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9101199" y="1947672"/>
            <a:ext cx="1621792" cy="1609344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DCFB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6" name="Picture 15" descr="sketch-3-subtraction-window.jp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165207" y="2011680"/>
            <a:ext cx="1493776" cy="1481328"/>
          </a:xfrm>
          <a:prstGeom prst="rect">
            <a:avLst/>
          </a:prstGeom>
        </p:spPr>
      </p:pic>
      <p:sp>
        <p:nvSpPr>
          <p:cNvPr id="17" name="TextBox 16"/>
          <p:cNvSpPr txBox="1"/>
          <p:nvPr/>
        </p:nvSpPr>
        <p:spPr>
          <a:xfrm>
            <a:off x="8211311" y="3529584"/>
            <a:ext cx="3401568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1" i="0">
                <a:solidFill>
                  <a:srgbClr val="5A3A22"/>
                </a:solidFill>
                <a:latin typeface="Trebuchet MS"/>
              </a:rPr>
              <a:t>03  SUBTRACTION (WINDOW)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211311" y="3813048"/>
            <a:ext cx="3401568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100" b="0" i="0">
                <a:solidFill>
                  <a:srgbClr val="8A7D6D"/>
                </a:solidFill>
                <a:latin typeface="Trebuchet MS"/>
              </a:rPr>
              <a:t>A square window is cut into the wall.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09219" y="4251959"/>
            <a:ext cx="3316986" cy="1609344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DCFB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0" name="Picture 19" descr="sketch-4-combined-form.jp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73227" y="4315968"/>
            <a:ext cx="3188970" cy="1481328"/>
          </a:xfrm>
          <a:prstGeom prst="rect">
            <a:avLst/>
          </a:prstGeom>
        </p:spPr>
      </p:pic>
      <p:sp>
        <p:nvSpPr>
          <p:cNvPr id="21" name="TextBox 20"/>
          <p:cNvSpPr txBox="1"/>
          <p:nvPr/>
        </p:nvSpPr>
        <p:spPr>
          <a:xfrm>
            <a:off x="566928" y="5833872"/>
            <a:ext cx="3401568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1" i="0">
                <a:solidFill>
                  <a:srgbClr val="5A3A22"/>
                </a:solidFill>
                <a:latin typeface="Trebuchet MS"/>
              </a:rPr>
              <a:t>04  COMBINED FORM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66928" y="6117336"/>
            <a:ext cx="3401568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100" b="0" i="0">
                <a:solidFill>
                  <a:srgbClr val="8A7D6D"/>
                </a:solidFill>
                <a:latin typeface="Trebuchet MS"/>
              </a:rPr>
              <a:t>The two volumes join into one form.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5410219" y="4251959"/>
            <a:ext cx="1359369" cy="1609344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DCFB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4" name="Picture 23" descr="sketch-5-addition-small-cube-on-top.jp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474227" y="4315968"/>
            <a:ext cx="1231353" cy="1481328"/>
          </a:xfrm>
          <a:prstGeom prst="rect">
            <a:avLst/>
          </a:prstGeom>
        </p:spPr>
      </p:pic>
      <p:sp>
        <p:nvSpPr>
          <p:cNvPr id="25" name="TextBox 24"/>
          <p:cNvSpPr txBox="1"/>
          <p:nvPr/>
        </p:nvSpPr>
        <p:spPr>
          <a:xfrm>
            <a:off x="4389120" y="5833872"/>
            <a:ext cx="3401568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1" i="0">
                <a:solidFill>
                  <a:srgbClr val="5A3A22"/>
                </a:solidFill>
                <a:latin typeface="Trebuchet MS"/>
              </a:rPr>
              <a:t>05  ADDITION (SMALL CUBE ON TOP)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389120" y="6117336"/>
            <a:ext cx="3401568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100" b="0" i="0">
                <a:solidFill>
                  <a:srgbClr val="8A7D6D"/>
                </a:solidFill>
                <a:latin typeface="Trebuchet MS"/>
              </a:rPr>
              <a:t>A small cube is added on top.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8728611" y="4251959"/>
            <a:ext cx="2366969" cy="1609344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DCFB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8" name="Picture 27" descr="sketch-6-addition-side-cube.jp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8792619" y="4315968"/>
            <a:ext cx="2238953" cy="1481328"/>
          </a:xfrm>
          <a:prstGeom prst="rect">
            <a:avLst/>
          </a:prstGeom>
        </p:spPr>
      </p:pic>
      <p:sp>
        <p:nvSpPr>
          <p:cNvPr id="29" name="TextBox 28"/>
          <p:cNvSpPr txBox="1"/>
          <p:nvPr/>
        </p:nvSpPr>
        <p:spPr>
          <a:xfrm>
            <a:off x="8211311" y="5833872"/>
            <a:ext cx="3401568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1" i="0">
                <a:solidFill>
                  <a:srgbClr val="5A3A22"/>
                </a:solidFill>
                <a:latin typeface="Trebuchet MS"/>
              </a:rPr>
              <a:t>06  ADDITION (SIDE CUBE)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211311" y="6117336"/>
            <a:ext cx="3401568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100" b="0" i="0">
                <a:solidFill>
                  <a:srgbClr val="8A7D6D"/>
                </a:solidFill>
                <a:latin typeface="Trebuchet MS"/>
              </a:rPr>
              <a:t>A side cube extends the shelter.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6E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6473952"/>
            <a:ext cx="59436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850" b="0" i="0">
                <a:solidFill>
                  <a:srgbClr val="8A7D6D"/>
                </a:solidFill>
                <a:latin typeface="Trebuchet MS"/>
              </a:rPr>
              <a:t>GRIZZLY SHELTER  /  ARCHITECTURAL STUDIO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607040" y="6473952"/>
            <a:ext cx="100584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850" b="0" i="0">
                <a:solidFill>
                  <a:srgbClr val="8A7D6D"/>
                </a:solidFill>
                <a:latin typeface="Trebuchet MS"/>
              </a:rPr>
              <a:t>04 / 08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66928" y="457200"/>
            <a:ext cx="1208836" cy="310896"/>
          </a:xfrm>
          <a:prstGeom prst="roundRect">
            <a:avLst>
              <a:gd name="adj" fmla="val 50000"/>
            </a:avLst>
          </a:prstGeom>
          <a:solidFill>
            <a:srgbClr val="E8A81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45720" rIns="45720" tIns="0" bIns="0"/>
          <a:lstStyle/>
          <a:p>
            <a:pPr algn="ctr"/>
            <a:r>
              <a:rPr sz="1000" b="1">
                <a:solidFill>
                  <a:srgbClr val="3A2A10"/>
                </a:solidFill>
                <a:latin typeface="Trebuchet MS"/>
              </a:rPr>
              <a:t>THE PROCESS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896112"/>
            <a:ext cx="11064240" cy="6583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700" b="1" i="0">
                <a:solidFill>
                  <a:srgbClr val="5A3A22"/>
                </a:solidFill>
                <a:latin typeface="Trebuchet MS"/>
              </a:rPr>
              <a:t>BUILDING IT IN CLAY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1463040"/>
            <a:ext cx="1106424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0" i="0">
                <a:solidFill>
                  <a:srgbClr val="8A7D6D"/>
                </a:solidFill>
                <a:latin typeface="Trebuchet MS"/>
              </a:rPr>
              <a:t>Then, the shelter is built by hand, one stage at a time.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02920" y="2522601"/>
            <a:ext cx="3529584" cy="2041398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DCFB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8" name="Picture 7" descr="process-1-walls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6928" y="2586609"/>
            <a:ext cx="3401568" cy="1913381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566928" y="5175504"/>
            <a:ext cx="3401568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1" i="0">
                <a:solidFill>
                  <a:srgbClr val="5A3A22"/>
                </a:solidFill>
                <a:latin typeface="Trebuchet MS"/>
              </a:rPr>
              <a:t>01  RAISING THE WALLS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66928" y="5458968"/>
            <a:ext cx="3401568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100" b="0" i="0">
                <a:solidFill>
                  <a:srgbClr val="8A7D6D"/>
                </a:solidFill>
                <a:latin typeface="Trebuchet MS"/>
              </a:rPr>
              <a:t>Flat clay slabs are joined on the green base.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164359" y="1947672"/>
            <a:ext cx="1851088" cy="3191256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DCFB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2" name="Picture 11" descr="process-2-main-cube-entrance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228367" y="2011680"/>
            <a:ext cx="1723072" cy="3063240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4389120" y="5175504"/>
            <a:ext cx="3401568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1" i="0">
                <a:solidFill>
                  <a:srgbClr val="5A3A22"/>
                </a:solidFill>
                <a:latin typeface="Trebuchet MS"/>
              </a:rPr>
              <a:t>02  THE MAIN CUBE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389120" y="5458968"/>
            <a:ext cx="3401568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100" b="0" i="0">
                <a:solidFill>
                  <a:srgbClr val="8A7D6D"/>
                </a:solidFill>
                <a:latin typeface="Trebuchet MS"/>
              </a:rPr>
              <a:t>The cube takes shape, with its arched entrance.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986551" y="1947672"/>
            <a:ext cx="1851088" cy="3191256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DCFB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6" name="Picture 15" descr="process-3-side-cube-window.jp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050559" y="2011680"/>
            <a:ext cx="1723072" cy="3063240"/>
          </a:xfrm>
          <a:prstGeom prst="rect">
            <a:avLst/>
          </a:prstGeom>
        </p:spPr>
      </p:pic>
      <p:sp>
        <p:nvSpPr>
          <p:cNvPr id="17" name="TextBox 16"/>
          <p:cNvSpPr txBox="1"/>
          <p:nvPr/>
        </p:nvSpPr>
        <p:spPr>
          <a:xfrm>
            <a:off x="8211311" y="5175504"/>
            <a:ext cx="3401568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1" i="0">
                <a:solidFill>
                  <a:srgbClr val="5A3A22"/>
                </a:solidFill>
                <a:latin typeface="Trebuchet MS"/>
              </a:rPr>
              <a:t>03  SIDE CUBE &amp; WINDOW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211311" y="5458968"/>
            <a:ext cx="3401568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100" b="0" i="0">
                <a:solidFill>
                  <a:srgbClr val="8A7D6D"/>
                </a:solidFill>
                <a:latin typeface="Trebuchet MS"/>
              </a:rPr>
              <a:t>The attached room and blue window are added.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6E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6473952"/>
            <a:ext cx="59436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850" b="0" i="0">
                <a:solidFill>
                  <a:srgbClr val="8A7D6D"/>
                </a:solidFill>
                <a:latin typeface="Trebuchet MS"/>
              </a:rPr>
              <a:t>GRIZZLY SHELTER  /  ARCHITECTURAL STUDIO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607040" y="6473952"/>
            <a:ext cx="100584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850" b="0" i="0">
                <a:solidFill>
                  <a:srgbClr val="8A7D6D"/>
                </a:solidFill>
                <a:latin typeface="Trebuchet MS"/>
              </a:rPr>
              <a:t>05 / 08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66928" y="457200"/>
            <a:ext cx="1358798" cy="310896"/>
          </a:xfrm>
          <a:prstGeom prst="roundRect">
            <a:avLst>
              <a:gd name="adj" fmla="val 50000"/>
            </a:avLst>
          </a:prstGeom>
          <a:solidFill>
            <a:srgbClr val="E8A81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45720" rIns="45720" tIns="0" bIns="0"/>
          <a:lstStyle/>
          <a:p>
            <a:pPr algn="ctr"/>
            <a:r>
              <a:rPr sz="1000" b="1">
                <a:solidFill>
                  <a:srgbClr val="3A2A10"/>
                </a:solidFill>
                <a:latin typeface="Trebuchet MS"/>
              </a:rPr>
              <a:t>THE CHARACTER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896112"/>
            <a:ext cx="11064240" cy="6583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700" b="1" i="0">
                <a:solidFill>
                  <a:srgbClr val="5A3A22"/>
                </a:solidFill>
                <a:latin typeface="Trebuchet MS"/>
              </a:rPr>
              <a:t>GRIZZLY'S QUALITIES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05532" y="1719072"/>
            <a:ext cx="3688950" cy="3044952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DCFB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grizzly-bea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9540" y="1783080"/>
            <a:ext cx="3560934" cy="2916936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4572000" y="1965960"/>
            <a:ext cx="3383280" cy="2560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50000"/>
              </a:lnSpc>
            </a:pPr>
            <a:r>
              <a:rPr sz="2000" b="0" i="0">
                <a:solidFill>
                  <a:srgbClr val="3E2A1A"/>
                </a:solidFill>
                <a:latin typeface="Trebuchet MS"/>
              </a:rPr>
              <a:t>•  Caring</a:t>
            </a:r>
          </a:p>
          <a:p>
            <a:pPr algn="l">
              <a:lnSpc>
                <a:spcPct val="150000"/>
              </a:lnSpc>
            </a:pPr>
            <a:r>
              <a:rPr sz="2000" b="0" i="0">
                <a:solidFill>
                  <a:srgbClr val="3E2A1A"/>
                </a:solidFill>
                <a:latin typeface="Trebuchet MS"/>
              </a:rPr>
              <a:t>•  Loving</a:t>
            </a:r>
          </a:p>
          <a:p>
            <a:pPr algn="l">
              <a:lnSpc>
                <a:spcPct val="150000"/>
              </a:lnSpc>
            </a:pPr>
            <a:r>
              <a:rPr sz="2000" b="0" i="0">
                <a:solidFill>
                  <a:srgbClr val="3E2A1A"/>
                </a:solidFill>
                <a:latin typeface="Trebuchet MS"/>
              </a:rPr>
              <a:t>•  Friendly</a:t>
            </a:r>
          </a:p>
          <a:p>
            <a:pPr algn="l">
              <a:lnSpc>
                <a:spcPct val="150000"/>
              </a:lnSpc>
            </a:pPr>
            <a:r>
              <a:rPr sz="2000" b="0" i="0">
                <a:solidFill>
                  <a:srgbClr val="3E2A1A"/>
                </a:solidFill>
                <a:latin typeface="Trebuchet MS"/>
              </a:rPr>
              <a:t>•  Adventurous</a:t>
            </a:r>
          </a:p>
          <a:p>
            <a:pPr algn="l">
              <a:lnSpc>
                <a:spcPct val="150000"/>
              </a:lnSpc>
            </a:pPr>
            <a:r>
              <a:rPr sz="2000" b="0" i="0">
                <a:solidFill>
                  <a:srgbClr val="3E2A1A"/>
                </a:solidFill>
                <a:latin typeface="Trebuchet MS"/>
              </a:rPr>
              <a:t>•  Impatient</a:t>
            </a:r>
          </a:p>
          <a:p>
            <a:pPr algn="l">
              <a:lnSpc>
                <a:spcPct val="150000"/>
              </a:lnSpc>
            </a:pPr>
            <a:r>
              <a:rPr sz="2000" b="0" i="0">
                <a:solidFill>
                  <a:srgbClr val="3E2A1A"/>
                </a:solidFill>
                <a:latin typeface="Trebuchet MS"/>
              </a:rPr>
              <a:t>•  Naturist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29600" y="1965960"/>
            <a:ext cx="3383280" cy="2560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50000"/>
              </a:lnSpc>
            </a:pPr>
            <a:r>
              <a:rPr sz="2000" b="0" i="0">
                <a:solidFill>
                  <a:srgbClr val="3E2A1A"/>
                </a:solidFill>
                <a:latin typeface="Trebuchet MS"/>
              </a:rPr>
              <a:t>•  Brave</a:t>
            </a:r>
          </a:p>
          <a:p>
            <a:pPr algn="l">
              <a:lnSpc>
                <a:spcPct val="150000"/>
              </a:lnSpc>
            </a:pPr>
            <a:r>
              <a:rPr sz="2000" b="0" i="0">
                <a:solidFill>
                  <a:srgbClr val="3E2A1A"/>
                </a:solidFill>
                <a:latin typeface="Trebuchet MS"/>
              </a:rPr>
              <a:t>•  Protective</a:t>
            </a:r>
          </a:p>
          <a:p>
            <a:pPr algn="l">
              <a:lnSpc>
                <a:spcPct val="150000"/>
              </a:lnSpc>
            </a:pPr>
            <a:r>
              <a:rPr sz="2000" b="0" i="0">
                <a:solidFill>
                  <a:srgbClr val="3E2A1A"/>
                </a:solidFill>
                <a:latin typeface="Trebuchet MS"/>
              </a:rPr>
              <a:t>•  Enthusiastic</a:t>
            </a:r>
          </a:p>
          <a:p>
            <a:pPr algn="l">
              <a:lnSpc>
                <a:spcPct val="150000"/>
              </a:lnSpc>
            </a:pPr>
            <a:r>
              <a:rPr sz="2000" b="0" i="0">
                <a:solidFill>
                  <a:srgbClr val="3E2A1A"/>
                </a:solidFill>
                <a:latin typeface="Trebuchet MS"/>
              </a:rPr>
              <a:t>•  Loyal</a:t>
            </a:r>
          </a:p>
          <a:p>
            <a:pPr algn="l">
              <a:lnSpc>
                <a:spcPct val="150000"/>
              </a:lnSpc>
            </a:pPr>
            <a:r>
              <a:rPr sz="2000" b="0" i="0">
                <a:solidFill>
                  <a:srgbClr val="3E2A1A"/>
                </a:solidFill>
                <a:latin typeface="Trebuchet MS"/>
              </a:rPr>
              <a:t>•  Curious</a:t>
            </a:r>
          </a:p>
          <a:p>
            <a:pPr algn="l">
              <a:lnSpc>
                <a:spcPct val="150000"/>
              </a:lnSpc>
            </a:pPr>
            <a:r>
              <a:rPr sz="2000" b="0" i="0">
                <a:solidFill>
                  <a:srgbClr val="3E2A1A"/>
                </a:solidFill>
                <a:latin typeface="Trebuchet MS"/>
              </a:rPr>
              <a:t>•  Foody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6E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6473952"/>
            <a:ext cx="59436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850" b="0" i="0">
                <a:solidFill>
                  <a:srgbClr val="8A7D6D"/>
                </a:solidFill>
                <a:latin typeface="Trebuchet MS"/>
              </a:rPr>
              <a:t>GRIZZLY SHELTER  /  ARCHITECTURAL STUDIO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607040" y="6473952"/>
            <a:ext cx="100584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850" b="0" i="0">
                <a:solidFill>
                  <a:srgbClr val="8A7D6D"/>
                </a:solidFill>
                <a:latin typeface="Trebuchet MS"/>
              </a:rPr>
              <a:t>06 / 08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66928" y="457200"/>
            <a:ext cx="2033625" cy="310896"/>
          </a:xfrm>
          <a:prstGeom prst="roundRect">
            <a:avLst>
              <a:gd name="adj" fmla="val 50000"/>
            </a:avLst>
          </a:prstGeom>
          <a:solidFill>
            <a:srgbClr val="E8A81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45720" rIns="45720" tIns="0" bIns="0"/>
          <a:lstStyle/>
          <a:p>
            <a:pPr algn="ctr"/>
            <a:r>
              <a:rPr sz="1000" b="1">
                <a:solidFill>
                  <a:srgbClr val="3A2A10"/>
                </a:solidFill>
                <a:latin typeface="Trebuchet MS"/>
              </a:rPr>
              <a:t>ARCHITECTURAL FEATURES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896112"/>
            <a:ext cx="11064240" cy="6583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700" b="1" i="0">
                <a:solidFill>
                  <a:srgbClr val="5A3A22"/>
                </a:solidFill>
                <a:latin typeface="Trebuchet MS"/>
              </a:rPr>
              <a:t>LITTLE DETAILS, BIG PERSONALITY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02920" y="1993106"/>
            <a:ext cx="4791455" cy="3557587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DCFB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final-shelter-sketch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6928" y="2057114"/>
            <a:ext cx="4663440" cy="3429571"/>
          </a:xfrm>
          <a:prstGeom prst="rect">
            <a:avLst/>
          </a:prstGeom>
        </p:spPr>
      </p:pic>
      <p:sp>
        <p:nvSpPr>
          <p:cNvPr id="8" name="Oval 7"/>
          <p:cNvSpPr/>
          <p:nvPr/>
        </p:nvSpPr>
        <p:spPr>
          <a:xfrm>
            <a:off x="5715000" y="1819656"/>
            <a:ext cx="155448" cy="155448"/>
          </a:xfrm>
          <a:prstGeom prst="ellipse">
            <a:avLst/>
          </a:prstGeom>
          <a:solidFill>
            <a:srgbClr val="2E7C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053328" y="1737360"/>
            <a:ext cx="5577840" cy="62179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1450" b="1" i="0">
                <a:solidFill>
                  <a:srgbClr val="5A3A22"/>
                </a:solidFill>
                <a:latin typeface="Trebuchet MS"/>
              </a:rPr>
              <a:t>CURIOSITY</a:t>
            </a:r>
          </a:p>
          <a:p>
            <a:pPr algn="l">
              <a:lnSpc>
                <a:spcPct val="108000"/>
              </a:lnSpc>
            </a:pPr>
            <a:r>
              <a:rPr sz="1250" b="0" i="0">
                <a:solidFill>
                  <a:srgbClr val="5C4C3E"/>
                </a:solidFill>
                <a:latin typeface="Trebuchet MS"/>
              </a:rPr>
              <a:t>The window, in bright blue colour.</a:t>
            </a:r>
          </a:p>
        </p:txBody>
      </p:sp>
      <p:sp>
        <p:nvSpPr>
          <p:cNvPr id="10" name="Oval 9"/>
          <p:cNvSpPr/>
          <p:nvPr/>
        </p:nvSpPr>
        <p:spPr>
          <a:xfrm>
            <a:off x="5715000" y="2542032"/>
            <a:ext cx="155448" cy="155448"/>
          </a:xfrm>
          <a:prstGeom prst="ellipse">
            <a:avLst/>
          </a:prstGeom>
          <a:solidFill>
            <a:srgbClr val="3E7C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053328" y="2459736"/>
            <a:ext cx="5577840" cy="62179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1450" b="1" i="0">
                <a:solidFill>
                  <a:srgbClr val="5A3A22"/>
                </a:solidFill>
                <a:latin typeface="Trebuchet MS"/>
              </a:rPr>
              <a:t>NATURIST</a:t>
            </a:r>
          </a:p>
          <a:p>
            <a:pPr algn="l">
              <a:lnSpc>
                <a:spcPct val="108000"/>
              </a:lnSpc>
            </a:pPr>
            <a:r>
              <a:rPr sz="1250" b="0" i="0">
                <a:solidFill>
                  <a:srgbClr val="5C4C3E"/>
                </a:solidFill>
                <a:latin typeface="Trebuchet MS"/>
              </a:rPr>
              <a:t>The green base and the plants.</a:t>
            </a:r>
          </a:p>
        </p:txBody>
      </p:sp>
      <p:sp>
        <p:nvSpPr>
          <p:cNvPr id="12" name="Oval 11"/>
          <p:cNvSpPr/>
          <p:nvPr/>
        </p:nvSpPr>
        <p:spPr>
          <a:xfrm>
            <a:off x="5715000" y="3264408"/>
            <a:ext cx="155448" cy="155448"/>
          </a:xfrm>
          <a:prstGeom prst="ellipse">
            <a:avLst/>
          </a:prstGeom>
          <a:solidFill>
            <a:srgbClr val="A05C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053328" y="3182112"/>
            <a:ext cx="5577840" cy="62179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1450" b="1" i="0">
                <a:solidFill>
                  <a:srgbClr val="5A3A22"/>
                </a:solidFill>
                <a:latin typeface="Trebuchet MS"/>
              </a:rPr>
              <a:t>BRAVE</a:t>
            </a:r>
          </a:p>
          <a:p>
            <a:pPr algn="l">
              <a:lnSpc>
                <a:spcPct val="108000"/>
              </a:lnSpc>
            </a:pPr>
            <a:r>
              <a:rPr sz="1250" b="0" i="0">
                <a:solidFill>
                  <a:srgbClr val="5C4C3E"/>
                </a:solidFill>
                <a:latin typeface="Trebuchet MS"/>
              </a:rPr>
              <a:t>The strong cubic structure.</a:t>
            </a:r>
          </a:p>
        </p:txBody>
      </p:sp>
      <p:sp>
        <p:nvSpPr>
          <p:cNvPr id="14" name="Oval 13"/>
          <p:cNvSpPr/>
          <p:nvPr/>
        </p:nvSpPr>
        <p:spPr>
          <a:xfrm>
            <a:off x="5715000" y="3986783"/>
            <a:ext cx="155448" cy="155448"/>
          </a:xfrm>
          <a:prstGeom prst="ellipse">
            <a:avLst/>
          </a:prstGeom>
          <a:solidFill>
            <a:srgbClr val="E8A81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053328" y="3904487"/>
            <a:ext cx="5577840" cy="62179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1450" b="1" i="0">
                <a:solidFill>
                  <a:srgbClr val="5A3A22"/>
                </a:solidFill>
                <a:latin typeface="Trebuchet MS"/>
              </a:rPr>
              <a:t>FOODY</a:t>
            </a:r>
          </a:p>
          <a:p>
            <a:pPr algn="l">
              <a:lnSpc>
                <a:spcPct val="108000"/>
              </a:lnSpc>
            </a:pPr>
            <a:r>
              <a:rPr sz="1250" b="0" i="0">
                <a:solidFill>
                  <a:srgbClr val="5C4C3E"/>
                </a:solidFill>
                <a:latin typeface="Trebuchet MS"/>
              </a:rPr>
              <a:t>The honey pot on the roof.</a:t>
            </a:r>
          </a:p>
        </p:txBody>
      </p:sp>
      <p:sp>
        <p:nvSpPr>
          <p:cNvPr id="16" name="Oval 15"/>
          <p:cNvSpPr/>
          <p:nvPr/>
        </p:nvSpPr>
        <p:spPr>
          <a:xfrm>
            <a:off x="5715000" y="4709160"/>
            <a:ext cx="155448" cy="155448"/>
          </a:xfrm>
          <a:prstGeom prst="ellipse">
            <a:avLst/>
          </a:prstGeom>
          <a:solidFill>
            <a:srgbClr val="5A3A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053328" y="4626864"/>
            <a:ext cx="5577840" cy="62179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1450" b="1" i="0">
                <a:solidFill>
                  <a:srgbClr val="5A3A22"/>
                </a:solidFill>
                <a:latin typeface="Trebuchet MS"/>
              </a:rPr>
              <a:t>ATTENTION SEEKER</a:t>
            </a:r>
          </a:p>
          <a:p>
            <a:pPr algn="l">
              <a:lnSpc>
                <a:spcPct val="108000"/>
              </a:lnSpc>
            </a:pPr>
            <a:r>
              <a:rPr sz="1250" b="0" i="0">
                <a:solidFill>
                  <a:srgbClr val="5C4C3E"/>
                </a:solidFill>
                <a:latin typeface="Trebuchet MS"/>
              </a:rPr>
              <a:t>The bear face entrance.</a:t>
            </a:r>
          </a:p>
        </p:txBody>
      </p:sp>
      <p:sp>
        <p:nvSpPr>
          <p:cNvPr id="18" name="Oval 17"/>
          <p:cNvSpPr/>
          <p:nvPr/>
        </p:nvSpPr>
        <p:spPr>
          <a:xfrm>
            <a:off x="5715000" y="5431536"/>
            <a:ext cx="155448" cy="155448"/>
          </a:xfrm>
          <a:prstGeom prst="ellipse">
            <a:avLst/>
          </a:prstGeom>
          <a:solidFill>
            <a:srgbClr val="3E7C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053328" y="5349240"/>
            <a:ext cx="5577840" cy="62179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1450" b="1" i="0">
                <a:solidFill>
                  <a:srgbClr val="5A3A22"/>
                </a:solidFill>
                <a:latin typeface="Trebuchet MS"/>
              </a:rPr>
              <a:t>FRIENDLY</a:t>
            </a:r>
          </a:p>
          <a:p>
            <a:pPr algn="l">
              <a:lnSpc>
                <a:spcPct val="108000"/>
              </a:lnSpc>
            </a:pPr>
            <a:r>
              <a:rPr sz="1250" b="0" i="0">
                <a:solidFill>
                  <a:srgbClr val="5C4C3E"/>
                </a:solidFill>
                <a:latin typeface="Trebuchet MS"/>
              </a:rPr>
              <a:t>The open, welcoming entrance.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6E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6473952"/>
            <a:ext cx="59436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850" b="0" i="0">
                <a:solidFill>
                  <a:srgbClr val="8A7D6D"/>
                </a:solidFill>
                <a:latin typeface="Trebuchet MS"/>
              </a:rPr>
              <a:t>GRIZZLY SHELTER  /  ARCHITECTURAL STUDIO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607040" y="6473952"/>
            <a:ext cx="100584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850" b="0" i="0">
                <a:solidFill>
                  <a:srgbClr val="8A7D6D"/>
                </a:solidFill>
                <a:latin typeface="Trebuchet MS"/>
              </a:rPr>
              <a:t>07 / 08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66928" y="457200"/>
            <a:ext cx="1733702" cy="310896"/>
          </a:xfrm>
          <a:prstGeom prst="roundRect">
            <a:avLst>
              <a:gd name="adj" fmla="val 50000"/>
            </a:avLst>
          </a:prstGeom>
          <a:solidFill>
            <a:srgbClr val="E8A81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45720" rIns="45720" tIns="0" bIns="0"/>
          <a:lstStyle/>
          <a:p>
            <a:pPr algn="ctr"/>
            <a:r>
              <a:rPr sz="1000" b="1">
                <a:solidFill>
                  <a:srgbClr val="3A2A10"/>
                </a:solidFill>
                <a:latin typeface="Trebuchet MS"/>
              </a:rPr>
              <a:t>FINAL PRESENTATION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896112"/>
            <a:ext cx="11064240" cy="6583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700" b="1" i="0">
                <a:solidFill>
                  <a:srgbClr val="5A3A22"/>
                </a:solidFill>
                <a:latin typeface="Trebuchet MS"/>
              </a:rPr>
              <a:t>MY FINAL GRIZZLY SHELTER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1463040"/>
            <a:ext cx="1106424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0" i="0">
                <a:solidFill>
                  <a:srgbClr val="8A7D6D"/>
                </a:solidFill>
                <a:latin typeface="Trebuchet MS"/>
              </a:rPr>
              <a:t>One model, viewed from different angles.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969263" y="1947672"/>
            <a:ext cx="2596896" cy="3419856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DCFB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8" name="Picture 7" descr="final-1-angle-view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33271" y="2011680"/>
            <a:ext cx="2468880" cy="3291840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566928" y="5394960"/>
            <a:ext cx="3401568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200" b="1" i="0">
                <a:solidFill>
                  <a:srgbClr val="8A7D6D"/>
                </a:solidFill>
                <a:latin typeface="Trebuchet MS"/>
              </a:rPr>
              <a:t>ANGLE VIEW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791455" y="1947672"/>
            <a:ext cx="2596896" cy="3419856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DCFB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1" name="Picture 10" descr="final-2-front-view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55464" y="2011680"/>
            <a:ext cx="2468880" cy="3291840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4389120" y="5394960"/>
            <a:ext cx="3401568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200" b="1" i="0">
                <a:solidFill>
                  <a:srgbClr val="8A7D6D"/>
                </a:solidFill>
                <a:latin typeface="Trebuchet MS"/>
              </a:rPr>
              <a:t>FRONT VIEW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613647" y="1947672"/>
            <a:ext cx="2596896" cy="3419856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DCFB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4" name="Picture 13" descr="final-3-side-view.jp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677655" y="2011680"/>
            <a:ext cx="2468880" cy="3291840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8211311" y="5394960"/>
            <a:ext cx="3401568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200" b="1" i="0">
                <a:solidFill>
                  <a:srgbClr val="8A7D6D"/>
                </a:solidFill>
                <a:latin typeface="Trebuchet MS"/>
              </a:rPr>
              <a:t>SIDE VIEW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011680" y="5870448"/>
            <a:ext cx="8165592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450" b="1" i="0">
                <a:solidFill>
                  <a:srgbClr val="3E7C43"/>
                </a:solidFill>
                <a:latin typeface="Trebuchet MS"/>
              </a:rPr>
              <a:t>A shelter where architecture meets imagination.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6E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6473952"/>
            <a:ext cx="59436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850" b="0" i="0">
                <a:solidFill>
                  <a:srgbClr val="8A7D6D"/>
                </a:solidFill>
                <a:latin typeface="Trebuchet MS"/>
              </a:rPr>
              <a:t>GRIZZLY SHELTER  /  ARCHITECTURAL STUDIO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607040" y="6473952"/>
            <a:ext cx="100584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850" b="0" i="0">
                <a:solidFill>
                  <a:srgbClr val="8A7D6D"/>
                </a:solidFill>
                <a:latin typeface="Trebuchet MS"/>
              </a:rPr>
              <a:t>08 / 08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641390" y="777240"/>
            <a:ext cx="908913" cy="310896"/>
          </a:xfrm>
          <a:prstGeom prst="roundRect">
            <a:avLst>
              <a:gd name="adj" fmla="val 50000"/>
            </a:avLst>
          </a:prstGeom>
          <a:solidFill>
            <a:srgbClr val="E8A81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45720" rIns="45720" tIns="0" bIns="0"/>
          <a:lstStyle/>
          <a:p>
            <a:pPr algn="ctr"/>
            <a:r>
              <a:rPr sz="1000" b="1">
                <a:solidFill>
                  <a:srgbClr val="3A2A10"/>
                </a:solidFill>
                <a:latin typeface="Trebuchet MS"/>
              </a:rPr>
              <a:t>THE END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075038" y="1261872"/>
            <a:ext cx="2048018" cy="1700784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DCFB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grizzly-bea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139046" y="1325880"/>
            <a:ext cx="1920002" cy="1572768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2011680" y="3108960"/>
            <a:ext cx="8165592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4000" b="1" i="0">
                <a:solidFill>
                  <a:srgbClr val="5A3A22"/>
                </a:solidFill>
                <a:latin typeface="Trebuchet MS"/>
              </a:rPr>
              <a:t>THANK YOU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011680" y="4114800"/>
            <a:ext cx="8165592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30000"/>
              </a:lnSpc>
            </a:pPr>
            <a:r>
              <a:rPr sz="1600" b="0" i="0">
                <a:solidFill>
                  <a:srgbClr val="5C4C3E"/>
                </a:solidFill>
                <a:latin typeface="Trebuchet MS"/>
              </a:rPr>
              <a:t>And so Grizzly got a home as brave, warm and full of love as he is, built by hand, one cube at a time.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011680" y="5257800"/>
            <a:ext cx="8165592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300" b="0" i="0">
                <a:solidFill>
                  <a:srgbClr val="8A7D6D"/>
                </a:solidFill>
                <a:latin typeface="Trebuchet MS"/>
              </a:rPr>
              <a:t>Presentation by Arooj Fatima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